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NeuralRetail Analytics Platform. It is an end-to-end business intelligence solution developed using Python and Machine Learning. The project transforms raw retail transaction data into interactive dashboards and predictive insights such as customer segmentation, churn prediction and revenue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companies collect a huge amount of transactional data every day. Without analytics, this data cannot provide meaningful insights. The objective of this project is to automate analysis and help businesses make data-driven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starts with data cleaning and preprocessing. After understanding the data through EDA, features are engineered for machine learning models. Finally, the processed data is visualized through interactive Streamlit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the Online Retail II dataset which contains transaction-level information. During preprocessing, additional business features such as Revenue, Customer Lifetime Value and Churn Status were generated to improve analytical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selected Python because of its extensive data science ecosystem. Pandas and NumPy were used for preprocessing, Plotly for interactive charts, Scikit-Learn for machine learning models, Prophet for revenue forecasting, and Streamlit for building the web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complete project pipeline. Starting from raw retail data, I cleaned and transformed the dataset, applied machine learning models, generated business insights, and finally deployed everything into a Streamlit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Dashboard, designed for top-level management. It consolidates key performance indicators such as revenue, orders, customers, and average order value. Instead of reviewing multiple reports, executives can monitor the overall business from a single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focuses on sales analysis. It allows businesses to understand monthly revenue trends, identify top-performing products, and analyze seasonal demand. These insights support better inventory planning and sales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segmentation was performed using RFM Analysis. Customers were grouped based on how recently they purchased, how frequently they purchase, and how much they spend. This helps businesses target different customer groups with personalized marketing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forecasting was implemented using Facebook Prophet. The model captures historical trends and seasonal patterns to predict future revenue. These forecasts help businesses plan inventory, budgeting, and future sales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machine learning techniques were used. RFM Analysis segmented customers based on purchasing behavior. Random Forest predicted customer churn, and Prophet forecasted future revenue. Together, these models transform historical data into actionable business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converts raw retail data into meaningful business insights. Management can identify top-performing markets, valuable customers, future revenue trends, and churn risks, allowing them to make informed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the project, I encountered several technical challenges, especially during data preprocessing and deployment. Missing values, cancelled invoices, and deployment issues required careful handling. These challenges improved my debugging and problem-solving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can be extended by integrating cloud databases, Power BI, and recommendation systems. These enhancements would make the platform more scalable and suitable for real-world business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combines data engineering, machine learning, and business intelligence into a single platform. It demonstrates how analytical techniques can help organizations improve customer understanding, predict future trends, and support informed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invite questions, and offer to walk through the live Streamlit dashboard or GitHub repository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hyperlink" Target="https://neuralretail-analytics-platform.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5751576" y="2285714"/>
            <a:ext cx="6053328" cy="2286572"/>
          </a:xfrm>
          <a:prstGeom prst="roundRect">
            <a:avLst>
              <a:gd name="adj" fmla="val 2399"/>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3" name="Image 0" descr="/home/claude/proj2/images/home_dashboard.jpg"/>
          <p:cNvPicPr>
            <a:picLocks noChangeAspect="1"/>
          </p:cNvPicPr>
          <p:nvPr/>
        </p:nvPicPr>
        <p:blipFill>
          <a:blip r:embed="rId1"/>
          <a:srcRect/>
          <a:stretch>
            <a:fillRect/>
          </a:stretch>
        </p:blipFill>
        <p:spPr>
          <a:xfrm>
            <a:off x="5806440" y="2340578"/>
            <a:ext cx="5943600" cy="2176844"/>
          </a:xfrm>
          <a:prstGeom prst="rect">
            <a:avLst/>
          </a:prstGeom>
        </p:spPr>
      </p:pic>
      <p:sp>
        <p:nvSpPr>
          <p:cNvPr id="4" name="Text 1"/>
          <p:cNvSpPr/>
          <p:nvPr/>
        </p:nvSpPr>
        <p:spPr>
          <a:xfrm>
            <a:off x="640080" y="1417320"/>
            <a:ext cx="5120640" cy="292608"/>
          </a:xfrm>
          <a:prstGeom prst="rect">
            <a:avLst/>
          </a:prstGeom>
          <a:noFill/>
        </p:spPr>
        <p:txBody>
          <a:bodyPr wrap="square" rtlCol="0" anchor="ctr"/>
          <a:lstStyle/>
          <a:p>
            <a:pPr marL="0" indent="0">
              <a:buNone/>
            </a:pPr>
            <a:r>
              <a:rPr lang="en-US" sz="1150" b="1" kern="0" spc="200" dirty="0">
                <a:solidFill>
                  <a:srgbClr val="5BC0BE"/>
                </a:solidFill>
                <a:latin typeface="Calibri" panose="020F0502020204030204" pitchFamily="34" charset="0"/>
                <a:ea typeface="Calibri" panose="020F0502020204030204" pitchFamily="34" charset="-122"/>
                <a:cs typeface="Calibri" panose="020F0502020204030204" pitchFamily="34" charset="-120"/>
              </a:rPr>
              <a:t>DATA SCIENCE &amp; ANALYTICS INTERNSHIP </a:t>
            </a:r>
            <a:endParaRPr lang="en-US" sz="1150" dirty="0"/>
          </a:p>
        </p:txBody>
      </p:sp>
      <p:sp>
        <p:nvSpPr>
          <p:cNvPr id="5" name="Text 2"/>
          <p:cNvSpPr/>
          <p:nvPr/>
        </p:nvSpPr>
        <p:spPr>
          <a:xfrm>
            <a:off x="621792" y="1828800"/>
            <a:ext cx="5212080" cy="868680"/>
          </a:xfrm>
          <a:prstGeom prst="rect">
            <a:avLst/>
          </a:prstGeom>
          <a:noFill/>
        </p:spPr>
        <p:txBody>
          <a:bodyPr wrap="square" lIns="0" tIns="0" rIns="0" bIns="0" rtlCol="0" anchor="ctr"/>
          <a:lstStyle/>
          <a:p>
            <a:pPr marL="0" indent="0">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NeuralRetail</a:t>
            </a:r>
            <a:endParaRPr lang="en-US" sz="4800" dirty="0"/>
          </a:p>
        </p:txBody>
      </p:sp>
      <p:sp>
        <p:nvSpPr>
          <p:cNvPr id="6" name="Text 3"/>
          <p:cNvSpPr/>
          <p:nvPr/>
        </p:nvSpPr>
        <p:spPr>
          <a:xfrm>
            <a:off x="621792" y="2487168"/>
            <a:ext cx="5212080" cy="640080"/>
          </a:xfrm>
          <a:prstGeom prst="rect">
            <a:avLst/>
          </a:prstGeom>
          <a:noFill/>
        </p:spPr>
        <p:txBody>
          <a:bodyPr wrap="square" lIns="0" tIns="0" rIns="0" bIns="0" rtlCol="0" anchor="ctr"/>
          <a:lstStyle/>
          <a:p>
            <a:pPr marL="0" indent="0">
              <a:buNone/>
            </a:pPr>
            <a:r>
              <a:rPr lang="en-US" sz="3000" b="1" dirty="0">
                <a:solidFill>
                  <a:srgbClr val="5BC0BE"/>
                </a:solidFill>
                <a:latin typeface="Cambria" panose="02040503050406030204" pitchFamily="34" charset="0"/>
                <a:ea typeface="Cambria" panose="02040503050406030204" pitchFamily="34" charset="-122"/>
                <a:cs typeface="Cambria" panose="02040503050406030204" pitchFamily="34" charset="-120"/>
              </a:rPr>
              <a:t>Analytics Platform</a:t>
            </a:r>
            <a:endParaRPr lang="en-US" sz="3000" dirty="0"/>
          </a:p>
        </p:txBody>
      </p:sp>
      <p:sp>
        <p:nvSpPr>
          <p:cNvPr id="7" name="Shape 4"/>
          <p:cNvSpPr/>
          <p:nvPr/>
        </p:nvSpPr>
        <p:spPr>
          <a:xfrm>
            <a:off x="640080" y="3310128"/>
            <a:ext cx="0" cy="0"/>
          </a:xfrm>
          <a:prstGeom prst="line">
            <a:avLst/>
          </a:prstGeom>
          <a:noFill/>
          <a:ln w="12700">
            <a:solidFill>
              <a:srgbClr val="1E2B4D"/>
            </a:solidFill>
            <a:prstDash val="solid"/>
          </a:ln>
        </p:spPr>
      </p:sp>
      <p:sp>
        <p:nvSpPr>
          <p:cNvPr id="8" name="Text 5"/>
          <p:cNvSpPr/>
          <p:nvPr/>
        </p:nvSpPr>
        <p:spPr>
          <a:xfrm>
            <a:off x="621792" y="3429000"/>
            <a:ext cx="4846320" cy="868680"/>
          </a:xfrm>
          <a:prstGeom prst="rect">
            <a:avLst/>
          </a:prstGeom>
          <a:noFill/>
        </p:spPr>
        <p:txBody>
          <a:bodyPr wrap="square" lIns="0" tIns="0" rIns="0" bIns="0" rtlCol="0" anchor="ctr"/>
          <a:lstStyle/>
          <a:p>
            <a:pPr marL="0" indent="0">
              <a:lnSpc>
                <a:spcPct val="125000"/>
              </a:lnSpc>
              <a:buNone/>
            </a:pPr>
            <a:r>
              <a:rPr lang="en-US" sz="1350" i="1" dirty="0">
                <a:solidFill>
                  <a:srgbClr val="8D9AB8"/>
                </a:solidFill>
                <a:latin typeface="Calibri" panose="020F0502020204030204" pitchFamily="34" charset="0"/>
                <a:ea typeface="Calibri" panose="020F0502020204030204" pitchFamily="34" charset="-122"/>
                <a:cs typeface="Calibri" panose="020F0502020204030204" pitchFamily="34" charset="-120"/>
              </a:rPr>
              <a:t>End-to-end retail analytics using Machine Learning &amp; Business Intelligence — transforming raw transactions into predictive, actionable insight.</a:t>
            </a:r>
            <a:endParaRPr lang="en-US" sz="1350" dirty="0"/>
          </a:p>
        </p:txBody>
      </p:sp>
      <p:sp>
        <p:nvSpPr>
          <p:cNvPr id="9" name="Shape 6"/>
          <p:cNvSpPr/>
          <p:nvPr/>
        </p:nvSpPr>
        <p:spPr>
          <a:xfrm>
            <a:off x="621792" y="4617720"/>
            <a:ext cx="4297680" cy="1051560"/>
          </a:xfrm>
          <a:prstGeom prst="roundRect">
            <a:avLst>
              <a:gd name="adj" fmla="val 6957"/>
            </a:avLst>
          </a:prstGeom>
          <a:solidFill>
            <a:srgbClr val="16213E"/>
          </a:solidFill>
        </p:spPr>
      </p:sp>
      <p:sp>
        <p:nvSpPr>
          <p:cNvPr id="10" name="Shape 7"/>
          <p:cNvSpPr/>
          <p:nvPr/>
        </p:nvSpPr>
        <p:spPr>
          <a:xfrm>
            <a:off x="822960" y="4818888"/>
            <a:ext cx="640080" cy="640080"/>
          </a:xfrm>
          <a:prstGeom prst="ellipse">
            <a:avLst/>
          </a:prstGeom>
          <a:solidFill>
            <a:srgbClr val="5BC0BE"/>
          </a:solidFill>
        </p:spPr>
      </p:sp>
      <p:sp>
        <p:nvSpPr>
          <p:cNvPr id="11" name="Text 8"/>
          <p:cNvSpPr/>
          <p:nvPr/>
        </p:nvSpPr>
        <p:spPr>
          <a:xfrm>
            <a:off x="822960" y="4818888"/>
            <a:ext cx="640080" cy="640080"/>
          </a:xfrm>
          <a:prstGeom prst="rect">
            <a:avLst/>
          </a:prstGeom>
          <a:noFill/>
        </p:spPr>
        <p:txBody>
          <a:bodyPr wrap="square" rtlCol="0" anchor="ctr"/>
          <a:lstStyle/>
          <a:p>
            <a:pPr marL="0" indent="0" algn="ctr">
              <a:buNone/>
            </a:pPr>
            <a:r>
              <a:rPr lang="en-US" sz="1800" b="1" dirty="0">
                <a:solidFill>
                  <a:srgbClr val="0B132B"/>
                </a:solidFill>
                <a:latin typeface="Calibri" panose="020F0502020204030204" pitchFamily="34" charset="0"/>
                <a:ea typeface="Calibri" panose="020F0502020204030204" pitchFamily="34" charset="-122"/>
                <a:cs typeface="Calibri" panose="020F0502020204030204" pitchFamily="34" charset="-120"/>
              </a:rPr>
              <a:t>SS</a:t>
            </a:r>
            <a:endParaRPr lang="en-US" sz="1800" dirty="0"/>
          </a:p>
        </p:txBody>
      </p:sp>
      <p:sp>
        <p:nvSpPr>
          <p:cNvPr id="12" name="Text 9"/>
          <p:cNvSpPr/>
          <p:nvPr/>
        </p:nvSpPr>
        <p:spPr>
          <a:xfrm>
            <a:off x="1645920" y="4736592"/>
            <a:ext cx="3108960" cy="329184"/>
          </a:xfrm>
          <a:prstGeom prst="rect">
            <a:avLst/>
          </a:prstGeom>
          <a:noFill/>
        </p:spPr>
        <p:txBody>
          <a:bodyPr wrap="square" lIns="0" tIns="0" rIns="0" bIns="0"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Shraddha Shri</a:t>
            </a:r>
            <a:endParaRPr lang="en-US" sz="1700" dirty="0"/>
          </a:p>
        </p:txBody>
      </p:sp>
      <p:sp>
        <p:nvSpPr>
          <p:cNvPr id="13" name="Text 10"/>
          <p:cNvSpPr/>
          <p:nvPr/>
        </p:nvSpPr>
        <p:spPr>
          <a:xfrm>
            <a:off x="1645920" y="5074920"/>
            <a:ext cx="3108960" cy="274320"/>
          </a:xfrm>
          <a:prstGeom prst="rect">
            <a:avLst/>
          </a:prstGeom>
          <a:noFill/>
        </p:spPr>
        <p:txBody>
          <a:bodyPr wrap="square" lIns="0" tIns="0" rIns="0" bIns="0" rtlCol="0" anchor="ctr"/>
          <a:lstStyle/>
          <a:p>
            <a:pPr marL="0" indent="0">
              <a:buNone/>
            </a:pPr>
            <a:r>
              <a:rPr lang="en-US" sz="1150" dirty="0">
                <a:solidFill>
                  <a:srgbClr val="8D9AB8"/>
                </a:solidFill>
                <a:latin typeface="Calibri" panose="020F0502020204030204" pitchFamily="34" charset="0"/>
                <a:ea typeface="Calibri" panose="020F0502020204030204" pitchFamily="34" charset="-122"/>
                <a:cs typeface="Calibri" panose="020F0502020204030204" pitchFamily="34" charset="-120"/>
              </a:rPr>
              <a:t>Data Science &amp; Analytics Intern</a:t>
            </a:r>
            <a:endParaRPr lang="en-US" sz="1150" dirty="0"/>
          </a:p>
        </p:txBody>
      </p:sp>
      <p:sp>
        <p:nvSpPr>
          <p:cNvPr id="14" name="Shape 11"/>
          <p:cNvSpPr/>
          <p:nvPr/>
        </p:nvSpPr>
        <p:spPr>
          <a:xfrm>
            <a:off x="621792" y="5989320"/>
            <a:ext cx="777240" cy="329184"/>
          </a:xfrm>
          <a:prstGeom prst="roundRect">
            <a:avLst>
              <a:gd name="adj" fmla="val 50000"/>
            </a:avLst>
          </a:prstGeom>
          <a:solidFill>
            <a:srgbClr val="1E2B4D"/>
          </a:solidFill>
          <a:ln w="9525">
            <a:solidFill>
              <a:srgbClr val="2C3A63"/>
            </a:solidFill>
            <a:prstDash val="solid"/>
          </a:ln>
        </p:spPr>
      </p:sp>
      <p:sp>
        <p:nvSpPr>
          <p:cNvPr id="15" name="Text 12"/>
          <p:cNvSpPr/>
          <p:nvPr/>
        </p:nvSpPr>
        <p:spPr>
          <a:xfrm>
            <a:off x="621792" y="598932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Python</a:t>
            </a:r>
            <a:endParaRPr lang="en-US" sz="1050" dirty="0"/>
          </a:p>
        </p:txBody>
      </p:sp>
      <p:sp>
        <p:nvSpPr>
          <p:cNvPr id="16" name="Shape 13"/>
          <p:cNvSpPr/>
          <p:nvPr/>
        </p:nvSpPr>
        <p:spPr>
          <a:xfrm>
            <a:off x="1527048" y="5989320"/>
            <a:ext cx="1037844" cy="329184"/>
          </a:xfrm>
          <a:prstGeom prst="roundRect">
            <a:avLst>
              <a:gd name="adj" fmla="val 50000"/>
            </a:avLst>
          </a:prstGeom>
          <a:solidFill>
            <a:srgbClr val="1E2B4D"/>
          </a:solidFill>
          <a:ln w="9525">
            <a:solidFill>
              <a:srgbClr val="2C3A63"/>
            </a:solidFill>
            <a:prstDash val="solid"/>
          </a:ln>
        </p:spPr>
      </p:sp>
      <p:sp>
        <p:nvSpPr>
          <p:cNvPr id="17" name="Text 14"/>
          <p:cNvSpPr/>
          <p:nvPr/>
        </p:nvSpPr>
        <p:spPr>
          <a:xfrm>
            <a:off x="1527048" y="5989320"/>
            <a:ext cx="1037844"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Streamlit</a:t>
            </a:r>
            <a:endParaRPr lang="en-US" sz="1050" dirty="0"/>
          </a:p>
        </p:txBody>
      </p:sp>
      <p:sp>
        <p:nvSpPr>
          <p:cNvPr id="18" name="Shape 15"/>
          <p:cNvSpPr/>
          <p:nvPr/>
        </p:nvSpPr>
        <p:spPr>
          <a:xfrm>
            <a:off x="2692908" y="5989320"/>
            <a:ext cx="777240" cy="329184"/>
          </a:xfrm>
          <a:prstGeom prst="roundRect">
            <a:avLst>
              <a:gd name="adj" fmla="val 50000"/>
            </a:avLst>
          </a:prstGeom>
          <a:solidFill>
            <a:srgbClr val="1E2B4D"/>
          </a:solidFill>
          <a:ln w="9525">
            <a:solidFill>
              <a:srgbClr val="2C3A63"/>
            </a:solidFill>
            <a:prstDash val="solid"/>
          </a:ln>
        </p:spPr>
      </p:sp>
      <p:sp>
        <p:nvSpPr>
          <p:cNvPr id="19" name="Text 16"/>
          <p:cNvSpPr/>
          <p:nvPr/>
        </p:nvSpPr>
        <p:spPr>
          <a:xfrm>
            <a:off x="2692908" y="598932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Pandas</a:t>
            </a:r>
            <a:endParaRPr lang="en-US" sz="1050" dirty="0"/>
          </a:p>
        </p:txBody>
      </p:sp>
      <p:sp>
        <p:nvSpPr>
          <p:cNvPr id="20" name="Shape 17"/>
          <p:cNvSpPr/>
          <p:nvPr/>
        </p:nvSpPr>
        <p:spPr>
          <a:xfrm>
            <a:off x="3598164" y="5989320"/>
            <a:ext cx="777240" cy="329184"/>
          </a:xfrm>
          <a:prstGeom prst="roundRect">
            <a:avLst>
              <a:gd name="adj" fmla="val 50000"/>
            </a:avLst>
          </a:prstGeom>
          <a:solidFill>
            <a:srgbClr val="1E2B4D"/>
          </a:solidFill>
          <a:ln w="9525">
            <a:solidFill>
              <a:srgbClr val="2C3A63"/>
            </a:solidFill>
            <a:prstDash val="solid"/>
          </a:ln>
        </p:spPr>
      </p:sp>
      <p:sp>
        <p:nvSpPr>
          <p:cNvPr id="21" name="Text 18"/>
          <p:cNvSpPr/>
          <p:nvPr/>
        </p:nvSpPr>
        <p:spPr>
          <a:xfrm>
            <a:off x="3598164" y="598932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Plotly</a:t>
            </a:r>
            <a:endParaRPr lang="en-US" sz="1050" dirty="0"/>
          </a:p>
        </p:txBody>
      </p:sp>
      <p:sp>
        <p:nvSpPr>
          <p:cNvPr id="22" name="Shape 19"/>
          <p:cNvSpPr/>
          <p:nvPr/>
        </p:nvSpPr>
        <p:spPr>
          <a:xfrm>
            <a:off x="4503420" y="5989320"/>
            <a:ext cx="1298448" cy="329184"/>
          </a:xfrm>
          <a:prstGeom prst="roundRect">
            <a:avLst>
              <a:gd name="adj" fmla="val 50000"/>
            </a:avLst>
          </a:prstGeom>
          <a:solidFill>
            <a:srgbClr val="1E2B4D"/>
          </a:solidFill>
          <a:ln w="9525">
            <a:solidFill>
              <a:srgbClr val="2C3A63"/>
            </a:solidFill>
            <a:prstDash val="solid"/>
          </a:ln>
        </p:spPr>
      </p:sp>
      <p:sp>
        <p:nvSpPr>
          <p:cNvPr id="23" name="Text 20"/>
          <p:cNvSpPr/>
          <p:nvPr/>
        </p:nvSpPr>
        <p:spPr>
          <a:xfrm>
            <a:off x="4503420" y="5989320"/>
            <a:ext cx="1298448"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Scikit-Learn</a:t>
            </a:r>
            <a:endParaRPr lang="en-US" sz="1050" dirty="0"/>
          </a:p>
        </p:txBody>
      </p:sp>
      <p:sp>
        <p:nvSpPr>
          <p:cNvPr id="24" name="Shape 21"/>
          <p:cNvSpPr/>
          <p:nvPr/>
        </p:nvSpPr>
        <p:spPr>
          <a:xfrm>
            <a:off x="5929884" y="5989320"/>
            <a:ext cx="864108" cy="329184"/>
          </a:xfrm>
          <a:prstGeom prst="roundRect">
            <a:avLst>
              <a:gd name="adj" fmla="val 50000"/>
            </a:avLst>
          </a:prstGeom>
          <a:solidFill>
            <a:srgbClr val="1E2B4D"/>
          </a:solidFill>
          <a:ln w="9525">
            <a:solidFill>
              <a:srgbClr val="2C3A63"/>
            </a:solidFill>
            <a:prstDash val="solid"/>
          </a:ln>
        </p:spPr>
      </p:sp>
      <p:sp>
        <p:nvSpPr>
          <p:cNvPr id="25" name="Text 22"/>
          <p:cNvSpPr/>
          <p:nvPr/>
        </p:nvSpPr>
        <p:spPr>
          <a:xfrm>
            <a:off x="5929884" y="5989320"/>
            <a:ext cx="864108"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Prophet</a:t>
            </a:r>
            <a:endParaRPr lang="en-US" sz="1050" dirty="0"/>
          </a:p>
        </p:txBody>
      </p:sp>
      <p:sp>
        <p:nvSpPr>
          <p:cNvPr id="26" name="Shape 23"/>
          <p:cNvSpPr/>
          <p:nvPr/>
        </p:nvSpPr>
        <p:spPr>
          <a:xfrm>
            <a:off x="6922008" y="5989320"/>
            <a:ext cx="777240" cy="329184"/>
          </a:xfrm>
          <a:prstGeom prst="roundRect">
            <a:avLst>
              <a:gd name="adj" fmla="val 50000"/>
            </a:avLst>
          </a:prstGeom>
          <a:solidFill>
            <a:srgbClr val="1E2B4D"/>
          </a:solidFill>
          <a:ln w="9525">
            <a:solidFill>
              <a:srgbClr val="2C3A63"/>
            </a:solidFill>
            <a:prstDash val="solid"/>
          </a:ln>
        </p:spPr>
      </p:sp>
      <p:sp>
        <p:nvSpPr>
          <p:cNvPr id="27" name="Text 24"/>
          <p:cNvSpPr/>
          <p:nvPr/>
        </p:nvSpPr>
        <p:spPr>
          <a:xfrm>
            <a:off x="6922008" y="598932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GitHub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THE CHALLENGE</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3000" dirty="0"/>
          </a:p>
        </p:txBody>
      </p:sp>
      <p:sp>
        <p:nvSpPr>
          <p:cNvPr id="4" name="Text 2"/>
          <p:cNvSpPr/>
          <p:nvPr/>
        </p:nvSpPr>
        <p:spPr>
          <a:xfrm>
            <a:off x="548640" y="1371600"/>
            <a:ext cx="10789920" cy="457200"/>
          </a:xfrm>
          <a:prstGeom prst="rect">
            <a:avLst/>
          </a:prstGeom>
          <a:noFill/>
        </p:spPr>
        <p:txBody>
          <a:bodyPr wrap="square" lIns="0" tIns="0" rIns="0" bIns="0" rtlCol="0" anchor="ctr"/>
          <a:lstStyle/>
          <a:p>
            <a:pPr marL="0" indent="0">
              <a:buNone/>
            </a:pPr>
            <a:r>
              <a:rPr lang="en-US" sz="1500" i="1" dirty="0">
                <a:solidFill>
                  <a:srgbClr val="E8ECF4"/>
                </a:solidFill>
                <a:latin typeface="Calibri" panose="020F0502020204030204" pitchFamily="34" charset="0"/>
                <a:ea typeface="Calibri" panose="020F0502020204030204" pitchFamily="34" charset="-122"/>
                <a:cs typeface="Calibri" panose="020F0502020204030204" pitchFamily="34" charset="-120"/>
              </a:rPr>
              <a:t>Retail businesses generate thousands of transactions every single day — yet most of that data goes unused.</a:t>
            </a:r>
            <a:endParaRPr lang="en-US" sz="1500" dirty="0"/>
          </a:p>
        </p:txBody>
      </p:sp>
      <p:sp>
        <p:nvSpPr>
          <p:cNvPr id="5" name="Shape 3"/>
          <p:cNvSpPr/>
          <p:nvPr/>
        </p:nvSpPr>
        <p:spPr>
          <a:xfrm>
            <a:off x="548640" y="2057400"/>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6" name="Shape 4"/>
          <p:cNvSpPr/>
          <p:nvPr/>
        </p:nvSpPr>
        <p:spPr>
          <a:xfrm>
            <a:off x="749808" y="2258568"/>
            <a:ext cx="420624" cy="420624"/>
          </a:xfrm>
          <a:prstGeom prst="ellipse">
            <a:avLst/>
          </a:prstGeom>
          <a:solidFill>
            <a:srgbClr val="0B132B"/>
          </a:solidFill>
        </p:spPr>
      </p:sp>
      <p:sp>
        <p:nvSpPr>
          <p:cNvPr id="7" name="Text 5"/>
          <p:cNvSpPr/>
          <p:nvPr/>
        </p:nvSpPr>
        <p:spPr>
          <a:xfrm>
            <a:off x="749808" y="2258568"/>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8" name="Text 6"/>
          <p:cNvSpPr/>
          <p:nvPr/>
        </p:nvSpPr>
        <p:spPr>
          <a:xfrm>
            <a:off x="1325880" y="2240280"/>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Monitoring performance</a:t>
            </a:r>
            <a:endParaRPr lang="en-US" sz="1350" dirty="0"/>
          </a:p>
        </p:txBody>
      </p:sp>
      <p:sp>
        <p:nvSpPr>
          <p:cNvPr id="9" name="Text 7"/>
          <p:cNvSpPr/>
          <p:nvPr/>
        </p:nvSpPr>
        <p:spPr>
          <a:xfrm>
            <a:off x="804672" y="2679192"/>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Hard to track performance manually across products &amp; regions</a:t>
            </a:r>
            <a:endParaRPr lang="en-US" sz="1080" dirty="0"/>
          </a:p>
        </p:txBody>
      </p:sp>
      <p:sp>
        <p:nvSpPr>
          <p:cNvPr id="10" name="Shape 8"/>
          <p:cNvSpPr/>
          <p:nvPr/>
        </p:nvSpPr>
        <p:spPr>
          <a:xfrm>
            <a:off x="4224528" y="2057400"/>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11" name="Shape 9"/>
          <p:cNvSpPr/>
          <p:nvPr/>
        </p:nvSpPr>
        <p:spPr>
          <a:xfrm>
            <a:off x="4425696" y="2258568"/>
            <a:ext cx="420624" cy="420624"/>
          </a:xfrm>
          <a:prstGeom prst="ellipse">
            <a:avLst/>
          </a:prstGeom>
          <a:solidFill>
            <a:srgbClr val="0B132B"/>
          </a:solidFill>
        </p:spPr>
      </p:sp>
      <p:sp>
        <p:nvSpPr>
          <p:cNvPr id="12" name="Text 10"/>
          <p:cNvSpPr/>
          <p:nvPr/>
        </p:nvSpPr>
        <p:spPr>
          <a:xfrm>
            <a:off x="4425696" y="2258568"/>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3" name="Text 11"/>
          <p:cNvSpPr/>
          <p:nvPr/>
        </p:nvSpPr>
        <p:spPr>
          <a:xfrm>
            <a:off x="5001768" y="2240280"/>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Purchasing behaviour</a:t>
            </a:r>
            <a:endParaRPr lang="en-US" sz="1350" dirty="0"/>
          </a:p>
        </p:txBody>
      </p:sp>
      <p:sp>
        <p:nvSpPr>
          <p:cNvPr id="14" name="Text 12"/>
          <p:cNvSpPr/>
          <p:nvPr/>
        </p:nvSpPr>
        <p:spPr>
          <a:xfrm>
            <a:off x="4480560" y="2679192"/>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Understanding how and why customers buy what they buy</a:t>
            </a:r>
            <a:endParaRPr lang="en-US" sz="1080" dirty="0"/>
          </a:p>
        </p:txBody>
      </p:sp>
      <p:sp>
        <p:nvSpPr>
          <p:cNvPr id="15" name="Shape 13"/>
          <p:cNvSpPr/>
          <p:nvPr/>
        </p:nvSpPr>
        <p:spPr>
          <a:xfrm>
            <a:off x="7900416" y="2057400"/>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16" name="Shape 14"/>
          <p:cNvSpPr/>
          <p:nvPr/>
        </p:nvSpPr>
        <p:spPr>
          <a:xfrm>
            <a:off x="8101584" y="2258568"/>
            <a:ext cx="420624" cy="420624"/>
          </a:xfrm>
          <a:prstGeom prst="ellipse">
            <a:avLst/>
          </a:prstGeom>
          <a:solidFill>
            <a:srgbClr val="0B132B"/>
          </a:solidFill>
        </p:spPr>
      </p:sp>
      <p:sp>
        <p:nvSpPr>
          <p:cNvPr id="17" name="Text 15"/>
          <p:cNvSpPr/>
          <p:nvPr/>
        </p:nvSpPr>
        <p:spPr>
          <a:xfrm>
            <a:off x="8101584" y="2258568"/>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8" name="Text 16"/>
          <p:cNvSpPr/>
          <p:nvPr/>
        </p:nvSpPr>
        <p:spPr>
          <a:xfrm>
            <a:off x="8677656" y="2240280"/>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Valuable customers</a:t>
            </a:r>
            <a:endParaRPr lang="en-US" sz="1350" dirty="0"/>
          </a:p>
        </p:txBody>
      </p:sp>
      <p:sp>
        <p:nvSpPr>
          <p:cNvPr id="19" name="Text 17"/>
          <p:cNvSpPr/>
          <p:nvPr/>
        </p:nvSpPr>
        <p:spPr>
          <a:xfrm>
            <a:off x="8156448" y="2679192"/>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No systematic way to identify high-value, loyal customers</a:t>
            </a:r>
            <a:endParaRPr lang="en-US" sz="1080" dirty="0"/>
          </a:p>
        </p:txBody>
      </p:sp>
      <p:sp>
        <p:nvSpPr>
          <p:cNvPr id="20" name="Shape 18"/>
          <p:cNvSpPr/>
          <p:nvPr/>
        </p:nvSpPr>
        <p:spPr>
          <a:xfrm>
            <a:off x="548640" y="3675888"/>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21" name="Shape 19"/>
          <p:cNvSpPr/>
          <p:nvPr/>
        </p:nvSpPr>
        <p:spPr>
          <a:xfrm>
            <a:off x="749808" y="3877056"/>
            <a:ext cx="420624" cy="420624"/>
          </a:xfrm>
          <a:prstGeom prst="ellipse">
            <a:avLst/>
          </a:prstGeom>
          <a:solidFill>
            <a:srgbClr val="0B132B"/>
          </a:solidFill>
        </p:spPr>
      </p:sp>
      <p:sp>
        <p:nvSpPr>
          <p:cNvPr id="22" name="Text 20"/>
          <p:cNvSpPr/>
          <p:nvPr/>
        </p:nvSpPr>
        <p:spPr>
          <a:xfrm>
            <a:off x="749808" y="3877056"/>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3" name="Text 21"/>
          <p:cNvSpPr/>
          <p:nvPr/>
        </p:nvSpPr>
        <p:spPr>
          <a:xfrm>
            <a:off x="1325880" y="3858768"/>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Churn risk</a:t>
            </a:r>
            <a:endParaRPr lang="en-US" sz="1350" dirty="0"/>
          </a:p>
        </p:txBody>
      </p:sp>
      <p:sp>
        <p:nvSpPr>
          <p:cNvPr id="24" name="Text 22"/>
          <p:cNvSpPr/>
          <p:nvPr/>
        </p:nvSpPr>
        <p:spPr>
          <a:xfrm>
            <a:off x="804672" y="4297680"/>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Predicting which customers are about to stop purchasing</a:t>
            </a:r>
            <a:endParaRPr lang="en-US" sz="1080" dirty="0"/>
          </a:p>
        </p:txBody>
      </p:sp>
      <p:sp>
        <p:nvSpPr>
          <p:cNvPr id="25" name="Shape 23"/>
          <p:cNvSpPr/>
          <p:nvPr/>
        </p:nvSpPr>
        <p:spPr>
          <a:xfrm>
            <a:off x="4224528" y="3675888"/>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26" name="Shape 24"/>
          <p:cNvSpPr/>
          <p:nvPr/>
        </p:nvSpPr>
        <p:spPr>
          <a:xfrm>
            <a:off x="4425696" y="3877056"/>
            <a:ext cx="420624" cy="420624"/>
          </a:xfrm>
          <a:prstGeom prst="ellipse">
            <a:avLst/>
          </a:prstGeom>
          <a:solidFill>
            <a:srgbClr val="0B132B"/>
          </a:solidFill>
        </p:spPr>
      </p:sp>
      <p:sp>
        <p:nvSpPr>
          <p:cNvPr id="27" name="Text 25"/>
          <p:cNvSpPr/>
          <p:nvPr/>
        </p:nvSpPr>
        <p:spPr>
          <a:xfrm>
            <a:off x="4425696" y="3877056"/>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8" name="Text 26"/>
          <p:cNvSpPr/>
          <p:nvPr/>
        </p:nvSpPr>
        <p:spPr>
          <a:xfrm>
            <a:off x="5001768" y="3858768"/>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Revenue forecasting</a:t>
            </a:r>
            <a:endParaRPr lang="en-US" sz="1350" dirty="0"/>
          </a:p>
        </p:txBody>
      </p:sp>
      <p:sp>
        <p:nvSpPr>
          <p:cNvPr id="29" name="Text 27"/>
          <p:cNvSpPr/>
          <p:nvPr/>
        </p:nvSpPr>
        <p:spPr>
          <a:xfrm>
            <a:off x="4480560" y="4297680"/>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Forecasting future revenue for planning &amp; budgeting</a:t>
            </a:r>
            <a:endParaRPr lang="en-US" sz="1080" dirty="0"/>
          </a:p>
        </p:txBody>
      </p:sp>
      <p:sp>
        <p:nvSpPr>
          <p:cNvPr id="30" name="Shape 28"/>
          <p:cNvSpPr/>
          <p:nvPr/>
        </p:nvSpPr>
        <p:spPr>
          <a:xfrm>
            <a:off x="7900416" y="3675888"/>
            <a:ext cx="3456432" cy="1417320"/>
          </a:xfrm>
          <a:prstGeom prst="roundRect">
            <a:avLst>
              <a:gd name="adj" fmla="val 5161"/>
            </a:avLst>
          </a:prstGeom>
          <a:solidFill>
            <a:srgbClr val="16213E"/>
          </a:solidFill>
          <a:effectLst>
            <a:outerShdw blurRad="127000" dist="38100" dir="5400000" algn="bl" rotWithShape="0">
              <a:srgbClr val="000000">
                <a:alpha val="35000"/>
              </a:srgbClr>
            </a:outerShdw>
          </a:effectLst>
        </p:spPr>
      </p:sp>
      <p:sp>
        <p:nvSpPr>
          <p:cNvPr id="31" name="Shape 29"/>
          <p:cNvSpPr/>
          <p:nvPr/>
        </p:nvSpPr>
        <p:spPr>
          <a:xfrm>
            <a:off x="8101584" y="3877056"/>
            <a:ext cx="420624" cy="420624"/>
          </a:xfrm>
          <a:prstGeom prst="ellipse">
            <a:avLst/>
          </a:prstGeom>
          <a:solidFill>
            <a:srgbClr val="0B132B"/>
          </a:solidFill>
        </p:spPr>
      </p:sp>
      <p:sp>
        <p:nvSpPr>
          <p:cNvPr id="32" name="Text 30"/>
          <p:cNvSpPr/>
          <p:nvPr/>
        </p:nvSpPr>
        <p:spPr>
          <a:xfrm>
            <a:off x="8101584" y="3877056"/>
            <a:ext cx="420624" cy="420624"/>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6</a:t>
            </a:r>
            <a:endParaRPr lang="en-US" sz="1600" dirty="0"/>
          </a:p>
        </p:txBody>
      </p:sp>
      <p:sp>
        <p:nvSpPr>
          <p:cNvPr id="33" name="Text 31"/>
          <p:cNvSpPr/>
          <p:nvPr/>
        </p:nvSpPr>
        <p:spPr>
          <a:xfrm>
            <a:off x="8677656" y="3858768"/>
            <a:ext cx="2542032" cy="365760"/>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Decision speed</a:t>
            </a:r>
            <a:endParaRPr lang="en-US" sz="1350" dirty="0"/>
          </a:p>
        </p:txBody>
      </p:sp>
      <p:sp>
        <p:nvSpPr>
          <p:cNvPr id="34" name="Text 32"/>
          <p:cNvSpPr/>
          <p:nvPr/>
        </p:nvSpPr>
        <p:spPr>
          <a:xfrm>
            <a:off x="8156448" y="4297680"/>
            <a:ext cx="2944368" cy="731520"/>
          </a:xfrm>
          <a:prstGeom prst="rect">
            <a:avLst/>
          </a:prstGeom>
          <a:noFill/>
        </p:spPr>
        <p:txBody>
          <a:bodyPr wrap="square" lIns="0" tIns="0" rIns="0" bIns="0" rtlCol="0" anchor="ctr"/>
          <a:lstStyle/>
          <a:p>
            <a:pPr marL="0" indent="0">
              <a:lnSpc>
                <a:spcPct val="115000"/>
              </a:lnSpc>
              <a:buNone/>
            </a:pPr>
            <a:r>
              <a:rPr lang="en-US" sz="1080" dirty="0">
                <a:solidFill>
                  <a:srgbClr val="8D9AB8"/>
                </a:solidFill>
                <a:latin typeface="Calibri" panose="020F0502020204030204" pitchFamily="34" charset="0"/>
                <a:ea typeface="Calibri" panose="020F0502020204030204" pitchFamily="34" charset="-122"/>
                <a:cs typeface="Calibri" panose="020F0502020204030204" pitchFamily="34" charset="-120"/>
              </a:rPr>
              <a:t>Slow, manual reporting delays data-driven decisions</a:t>
            </a:r>
            <a:endParaRPr lang="en-US" sz="1080" dirty="0"/>
          </a:p>
        </p:txBody>
      </p:sp>
      <p:sp>
        <p:nvSpPr>
          <p:cNvPr id="35" name="Shape 33"/>
          <p:cNvSpPr/>
          <p:nvPr/>
        </p:nvSpPr>
        <p:spPr>
          <a:xfrm>
            <a:off x="548640" y="5440680"/>
            <a:ext cx="11091672" cy="960120"/>
          </a:xfrm>
          <a:prstGeom prst="roundRect">
            <a:avLst>
              <a:gd name="adj" fmla="val 7619"/>
            </a:avLst>
          </a:prstGeom>
          <a:solidFill>
            <a:srgbClr val="1E2B4D"/>
          </a:solidFill>
          <a:effectLst>
            <a:outerShdw blurRad="127000" dist="38100" dir="5400000" algn="bl" rotWithShape="0">
              <a:srgbClr val="000000">
                <a:alpha val="35000"/>
              </a:srgbClr>
            </a:outerShdw>
          </a:effectLst>
        </p:spPr>
      </p:sp>
      <p:sp>
        <p:nvSpPr>
          <p:cNvPr id="36" name="Shape 34"/>
          <p:cNvSpPr/>
          <p:nvPr/>
        </p:nvSpPr>
        <p:spPr>
          <a:xfrm>
            <a:off x="777240" y="5623560"/>
            <a:ext cx="566928" cy="566928"/>
          </a:xfrm>
          <a:prstGeom prst="ellipse">
            <a:avLst/>
          </a:prstGeom>
          <a:solidFill>
            <a:srgbClr val="5BC0BE"/>
          </a:solidFill>
        </p:spPr>
      </p:sp>
      <p:sp>
        <p:nvSpPr>
          <p:cNvPr id="37" name="Text 35"/>
          <p:cNvSpPr/>
          <p:nvPr/>
        </p:nvSpPr>
        <p:spPr>
          <a:xfrm>
            <a:off x="777240" y="5623560"/>
            <a:ext cx="566928" cy="566928"/>
          </a:xfrm>
          <a:prstGeom prst="rect">
            <a:avLst/>
          </a:prstGeom>
          <a:noFill/>
        </p:spPr>
        <p:txBody>
          <a:bodyPr wrap="square" rtlCol="0" anchor="ctr"/>
          <a:lstStyle/>
          <a:p>
            <a:pPr marL="0" indent="0" algn="ctr">
              <a:buNone/>
            </a:pPr>
            <a:r>
              <a:rPr lang="en-US" sz="2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38" name="Text 36"/>
          <p:cNvSpPr/>
          <p:nvPr/>
        </p:nvSpPr>
        <p:spPr>
          <a:xfrm>
            <a:off x="1508760" y="5532120"/>
            <a:ext cx="2743200" cy="292608"/>
          </a:xfrm>
          <a:prstGeom prst="rect">
            <a:avLst/>
          </a:prstGeom>
          <a:noFill/>
        </p:spPr>
        <p:txBody>
          <a:bodyPr wrap="square" lIns="0" tIns="0" rIns="0" bIns="0" rtlCol="0" anchor="ctr"/>
          <a:lstStyle/>
          <a:p>
            <a:pPr marL="0" indent="0">
              <a:buNone/>
            </a:pPr>
            <a:r>
              <a:rPr lang="en-US" sz="1300" b="1" dirty="0">
                <a:solidFill>
                  <a:srgbClr val="5BC0BE"/>
                </a:solidFill>
                <a:latin typeface="Cambria" panose="02040503050406030204" pitchFamily="34" charset="0"/>
                <a:ea typeface="Cambria" panose="02040503050406030204" pitchFamily="34" charset="-122"/>
                <a:cs typeface="Cambria" panose="02040503050406030204" pitchFamily="34" charset="-120"/>
              </a:rPr>
              <a:t>Project Goal</a:t>
            </a:r>
            <a:endParaRPr lang="en-US" sz="1300" dirty="0"/>
          </a:p>
        </p:txBody>
      </p:sp>
      <p:sp>
        <p:nvSpPr>
          <p:cNvPr id="39" name="Text 37"/>
          <p:cNvSpPr/>
          <p:nvPr/>
        </p:nvSpPr>
        <p:spPr>
          <a:xfrm>
            <a:off x="1508760" y="5833872"/>
            <a:ext cx="9784080" cy="502920"/>
          </a:xfrm>
          <a:prstGeom prst="rect">
            <a:avLst/>
          </a:prstGeom>
          <a:noFill/>
        </p:spPr>
        <p:txBody>
          <a:bodyPr wrap="square" lIns="0" tIns="0" rIns="0" bIns="0" rtlCol="0" anchor="ctr"/>
          <a:lstStyle/>
          <a:p>
            <a:pPr marL="0" indent="0">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Develop an intelligent analytics platform that converts retail transaction data into actionable business insights.</a:t>
            </a:r>
            <a:endParaRPr lang="en-US" sz="1300" dirty="0"/>
          </a:p>
        </p:txBody>
      </p:sp>
      <p:sp>
        <p:nvSpPr>
          <p:cNvPr id="41" name="Text 38"/>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42" name="Text 39"/>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WHAT WE SET OUT TO DO</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Project Objectives</a:t>
            </a:r>
            <a:endParaRPr lang="en-US" sz="3000" dirty="0"/>
          </a:p>
        </p:txBody>
      </p:sp>
      <p:sp>
        <p:nvSpPr>
          <p:cNvPr id="4" name="Shape 2"/>
          <p:cNvSpPr/>
          <p:nvPr/>
        </p:nvSpPr>
        <p:spPr>
          <a:xfrm>
            <a:off x="548640" y="1554480"/>
            <a:ext cx="329184" cy="329184"/>
          </a:xfrm>
          <a:prstGeom prst="ellipse">
            <a:avLst/>
          </a:prstGeom>
          <a:solidFill>
            <a:srgbClr val="5BC0BE"/>
          </a:solidFill>
        </p:spPr>
      </p:sp>
      <p:sp>
        <p:nvSpPr>
          <p:cNvPr id="5" name="Text 3"/>
          <p:cNvSpPr/>
          <p:nvPr/>
        </p:nvSpPr>
        <p:spPr>
          <a:xfrm>
            <a:off x="548640" y="1554480"/>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6" name="Text 4"/>
          <p:cNvSpPr/>
          <p:nvPr/>
        </p:nvSpPr>
        <p:spPr>
          <a:xfrm>
            <a:off x="1005840" y="1508760"/>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Clean and preprocess retail transaction data</a:t>
            </a:r>
            <a:endParaRPr lang="en-US" sz="1350" dirty="0"/>
          </a:p>
        </p:txBody>
      </p:sp>
      <p:sp>
        <p:nvSpPr>
          <p:cNvPr id="7" name="Shape 5"/>
          <p:cNvSpPr/>
          <p:nvPr/>
        </p:nvSpPr>
        <p:spPr>
          <a:xfrm>
            <a:off x="548640" y="2130552"/>
            <a:ext cx="329184" cy="329184"/>
          </a:xfrm>
          <a:prstGeom prst="ellipse">
            <a:avLst/>
          </a:prstGeom>
          <a:solidFill>
            <a:srgbClr val="5BC0BE"/>
          </a:solidFill>
        </p:spPr>
      </p:sp>
      <p:sp>
        <p:nvSpPr>
          <p:cNvPr id="8" name="Text 6"/>
          <p:cNvSpPr/>
          <p:nvPr/>
        </p:nvSpPr>
        <p:spPr>
          <a:xfrm>
            <a:off x="548640" y="2130552"/>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9" name="Text 7"/>
          <p:cNvSpPr/>
          <p:nvPr/>
        </p:nvSpPr>
        <p:spPr>
          <a:xfrm>
            <a:off x="1005840" y="2084832"/>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Perform Exploratory Data Analysis (EDA)</a:t>
            </a:r>
            <a:endParaRPr lang="en-US" sz="1350" dirty="0"/>
          </a:p>
        </p:txBody>
      </p:sp>
      <p:sp>
        <p:nvSpPr>
          <p:cNvPr id="10" name="Shape 8"/>
          <p:cNvSpPr/>
          <p:nvPr/>
        </p:nvSpPr>
        <p:spPr>
          <a:xfrm>
            <a:off x="548640" y="2706624"/>
            <a:ext cx="329184" cy="329184"/>
          </a:xfrm>
          <a:prstGeom prst="ellipse">
            <a:avLst/>
          </a:prstGeom>
          <a:solidFill>
            <a:srgbClr val="5BC0BE"/>
          </a:solidFill>
        </p:spPr>
      </p:sp>
      <p:sp>
        <p:nvSpPr>
          <p:cNvPr id="11" name="Text 9"/>
          <p:cNvSpPr/>
          <p:nvPr/>
        </p:nvSpPr>
        <p:spPr>
          <a:xfrm>
            <a:off x="548640" y="2706624"/>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2" name="Text 10"/>
          <p:cNvSpPr/>
          <p:nvPr/>
        </p:nvSpPr>
        <p:spPr>
          <a:xfrm>
            <a:off x="1005840" y="2660904"/>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Identify customer purchasing patterns</a:t>
            </a:r>
            <a:endParaRPr lang="en-US" sz="1350" dirty="0"/>
          </a:p>
        </p:txBody>
      </p:sp>
      <p:sp>
        <p:nvSpPr>
          <p:cNvPr id="13" name="Shape 11"/>
          <p:cNvSpPr/>
          <p:nvPr/>
        </p:nvSpPr>
        <p:spPr>
          <a:xfrm>
            <a:off x="548640" y="3282696"/>
            <a:ext cx="329184" cy="329184"/>
          </a:xfrm>
          <a:prstGeom prst="ellipse">
            <a:avLst/>
          </a:prstGeom>
          <a:solidFill>
            <a:srgbClr val="5BC0BE"/>
          </a:solidFill>
        </p:spPr>
      </p:sp>
      <p:sp>
        <p:nvSpPr>
          <p:cNvPr id="14" name="Text 12"/>
          <p:cNvSpPr/>
          <p:nvPr/>
        </p:nvSpPr>
        <p:spPr>
          <a:xfrm>
            <a:off x="548640" y="3282696"/>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5" name="Text 13"/>
          <p:cNvSpPr/>
          <p:nvPr/>
        </p:nvSpPr>
        <p:spPr>
          <a:xfrm>
            <a:off x="1005840" y="3236976"/>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Segment customers using RFM Analysis</a:t>
            </a:r>
            <a:endParaRPr lang="en-US" sz="1350" dirty="0"/>
          </a:p>
        </p:txBody>
      </p:sp>
      <p:sp>
        <p:nvSpPr>
          <p:cNvPr id="16" name="Shape 14"/>
          <p:cNvSpPr/>
          <p:nvPr/>
        </p:nvSpPr>
        <p:spPr>
          <a:xfrm>
            <a:off x="548640" y="3858768"/>
            <a:ext cx="329184" cy="329184"/>
          </a:xfrm>
          <a:prstGeom prst="ellipse">
            <a:avLst/>
          </a:prstGeom>
          <a:solidFill>
            <a:srgbClr val="5BC0BE"/>
          </a:solidFill>
        </p:spPr>
      </p:sp>
      <p:sp>
        <p:nvSpPr>
          <p:cNvPr id="17" name="Text 15"/>
          <p:cNvSpPr/>
          <p:nvPr/>
        </p:nvSpPr>
        <p:spPr>
          <a:xfrm>
            <a:off x="548640" y="3858768"/>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8" name="Text 16"/>
          <p:cNvSpPr/>
          <p:nvPr/>
        </p:nvSpPr>
        <p:spPr>
          <a:xfrm>
            <a:off x="1005840" y="3813048"/>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Predict customer churn using Machine Learning</a:t>
            </a:r>
            <a:endParaRPr lang="en-US" sz="1350" dirty="0"/>
          </a:p>
        </p:txBody>
      </p:sp>
      <p:sp>
        <p:nvSpPr>
          <p:cNvPr id="19" name="Shape 17"/>
          <p:cNvSpPr/>
          <p:nvPr/>
        </p:nvSpPr>
        <p:spPr>
          <a:xfrm>
            <a:off x="548640" y="4434840"/>
            <a:ext cx="329184" cy="329184"/>
          </a:xfrm>
          <a:prstGeom prst="ellipse">
            <a:avLst/>
          </a:prstGeom>
          <a:solidFill>
            <a:srgbClr val="5BC0BE"/>
          </a:solidFill>
        </p:spPr>
      </p:sp>
      <p:sp>
        <p:nvSpPr>
          <p:cNvPr id="20" name="Text 18"/>
          <p:cNvSpPr/>
          <p:nvPr/>
        </p:nvSpPr>
        <p:spPr>
          <a:xfrm>
            <a:off x="548640" y="4434840"/>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1" name="Text 19"/>
          <p:cNvSpPr/>
          <p:nvPr/>
        </p:nvSpPr>
        <p:spPr>
          <a:xfrm>
            <a:off x="1005840" y="4389120"/>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Forecast future revenue</a:t>
            </a:r>
            <a:endParaRPr lang="en-US" sz="1350" dirty="0"/>
          </a:p>
        </p:txBody>
      </p:sp>
      <p:sp>
        <p:nvSpPr>
          <p:cNvPr id="22" name="Shape 20"/>
          <p:cNvSpPr/>
          <p:nvPr/>
        </p:nvSpPr>
        <p:spPr>
          <a:xfrm>
            <a:off x="548640" y="5010912"/>
            <a:ext cx="329184" cy="329184"/>
          </a:xfrm>
          <a:prstGeom prst="ellipse">
            <a:avLst/>
          </a:prstGeom>
          <a:solidFill>
            <a:srgbClr val="5BC0BE"/>
          </a:solidFill>
        </p:spPr>
      </p:sp>
      <p:sp>
        <p:nvSpPr>
          <p:cNvPr id="23" name="Text 21"/>
          <p:cNvSpPr/>
          <p:nvPr/>
        </p:nvSpPr>
        <p:spPr>
          <a:xfrm>
            <a:off x="548640" y="5010912"/>
            <a:ext cx="329184" cy="329184"/>
          </a:xfrm>
          <a:prstGeom prst="rect">
            <a:avLst/>
          </a:prstGeom>
          <a:noFill/>
        </p:spPr>
        <p:txBody>
          <a:bodyPr wrap="square" rtlCol="0" anchor="ctr"/>
          <a:lstStyle/>
          <a:p>
            <a:pPr marL="0" indent="0" algn="ctr">
              <a:buNone/>
            </a:pPr>
            <a:r>
              <a:rPr lang="en-US" sz="14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4" name="Text 22"/>
          <p:cNvSpPr/>
          <p:nvPr/>
        </p:nvSpPr>
        <p:spPr>
          <a:xfrm>
            <a:off x="1005840" y="4965192"/>
            <a:ext cx="4480560" cy="457200"/>
          </a:xfrm>
          <a:prstGeom prst="rect">
            <a:avLst/>
          </a:prstGeom>
          <a:noFill/>
        </p:spPr>
        <p:txBody>
          <a:bodyPr wrap="square" lIns="0" tIns="0" rIns="0" bIns="0" rtlCol="0" anchor="ctr"/>
          <a:lstStyle/>
          <a:p>
            <a:pPr marL="0" indent="0">
              <a:buNone/>
            </a:pPr>
            <a:r>
              <a:rPr lang="en-US" sz="1350" dirty="0">
                <a:solidFill>
                  <a:srgbClr val="E8ECF4"/>
                </a:solidFill>
                <a:latin typeface="Calibri" panose="020F0502020204030204" pitchFamily="34" charset="0"/>
                <a:ea typeface="Calibri" panose="020F0502020204030204" pitchFamily="34" charset="-122"/>
                <a:cs typeface="Calibri" panose="020F0502020204030204" pitchFamily="34" charset="-120"/>
              </a:rPr>
              <a:t>Build interactive dashboards using Streamlit</a:t>
            </a:r>
            <a:endParaRPr lang="en-US" sz="1350" dirty="0"/>
          </a:p>
        </p:txBody>
      </p:sp>
      <p:sp>
        <p:nvSpPr>
          <p:cNvPr id="25" name="Shape 23"/>
          <p:cNvSpPr/>
          <p:nvPr/>
        </p:nvSpPr>
        <p:spPr>
          <a:xfrm>
            <a:off x="6309360" y="1417320"/>
            <a:ext cx="5349240" cy="475488"/>
          </a:xfrm>
          <a:prstGeom prst="roundRect">
            <a:avLst>
              <a:gd name="adj" fmla="val 19231"/>
            </a:avLst>
          </a:prstGeom>
          <a:solidFill>
            <a:srgbClr val="1E2B4D"/>
          </a:solidFill>
        </p:spPr>
      </p:sp>
      <p:sp>
        <p:nvSpPr>
          <p:cNvPr id="26" name="Text 24"/>
          <p:cNvSpPr/>
          <p:nvPr/>
        </p:nvSpPr>
        <p:spPr>
          <a:xfrm>
            <a:off x="6309360" y="1417320"/>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Dataset</a:t>
            </a:r>
            <a:endParaRPr lang="en-US" sz="1300" dirty="0"/>
          </a:p>
        </p:txBody>
      </p:sp>
      <p:sp>
        <p:nvSpPr>
          <p:cNvPr id="27" name="Text 25"/>
          <p:cNvSpPr/>
          <p:nvPr/>
        </p:nvSpPr>
        <p:spPr>
          <a:xfrm>
            <a:off x="8755380" y="1892808"/>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28" name="Shape 26"/>
          <p:cNvSpPr/>
          <p:nvPr/>
        </p:nvSpPr>
        <p:spPr>
          <a:xfrm>
            <a:off x="6309360" y="2075688"/>
            <a:ext cx="5349240" cy="475488"/>
          </a:xfrm>
          <a:prstGeom prst="roundRect">
            <a:avLst>
              <a:gd name="adj" fmla="val 19231"/>
            </a:avLst>
          </a:prstGeom>
          <a:solidFill>
            <a:srgbClr val="1E2B4D"/>
          </a:solidFill>
        </p:spPr>
      </p:sp>
      <p:sp>
        <p:nvSpPr>
          <p:cNvPr id="29" name="Text 27"/>
          <p:cNvSpPr/>
          <p:nvPr/>
        </p:nvSpPr>
        <p:spPr>
          <a:xfrm>
            <a:off x="6309360" y="2075688"/>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Data Cleaning</a:t>
            </a:r>
            <a:endParaRPr lang="en-US" sz="1300" dirty="0"/>
          </a:p>
        </p:txBody>
      </p:sp>
      <p:sp>
        <p:nvSpPr>
          <p:cNvPr id="30" name="Text 28"/>
          <p:cNvSpPr/>
          <p:nvPr/>
        </p:nvSpPr>
        <p:spPr>
          <a:xfrm>
            <a:off x="8755380" y="2551176"/>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31" name="Shape 29"/>
          <p:cNvSpPr/>
          <p:nvPr/>
        </p:nvSpPr>
        <p:spPr>
          <a:xfrm>
            <a:off x="6309360" y="2734056"/>
            <a:ext cx="5349240" cy="475488"/>
          </a:xfrm>
          <a:prstGeom prst="roundRect">
            <a:avLst>
              <a:gd name="adj" fmla="val 19231"/>
            </a:avLst>
          </a:prstGeom>
          <a:solidFill>
            <a:srgbClr val="1E2B4D"/>
          </a:solidFill>
        </p:spPr>
      </p:sp>
      <p:sp>
        <p:nvSpPr>
          <p:cNvPr id="32" name="Text 30"/>
          <p:cNvSpPr/>
          <p:nvPr/>
        </p:nvSpPr>
        <p:spPr>
          <a:xfrm>
            <a:off x="6309360" y="2734056"/>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EDA</a:t>
            </a:r>
            <a:endParaRPr lang="en-US" sz="1300" dirty="0"/>
          </a:p>
        </p:txBody>
      </p:sp>
      <p:sp>
        <p:nvSpPr>
          <p:cNvPr id="33" name="Text 31"/>
          <p:cNvSpPr/>
          <p:nvPr/>
        </p:nvSpPr>
        <p:spPr>
          <a:xfrm>
            <a:off x="8755380" y="3209544"/>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34" name="Shape 32"/>
          <p:cNvSpPr/>
          <p:nvPr/>
        </p:nvSpPr>
        <p:spPr>
          <a:xfrm>
            <a:off x="6309360" y="3392424"/>
            <a:ext cx="5349240" cy="475488"/>
          </a:xfrm>
          <a:prstGeom prst="roundRect">
            <a:avLst>
              <a:gd name="adj" fmla="val 19231"/>
            </a:avLst>
          </a:prstGeom>
          <a:solidFill>
            <a:srgbClr val="1E2B4D"/>
          </a:solidFill>
        </p:spPr>
      </p:sp>
      <p:sp>
        <p:nvSpPr>
          <p:cNvPr id="35" name="Text 33"/>
          <p:cNvSpPr/>
          <p:nvPr/>
        </p:nvSpPr>
        <p:spPr>
          <a:xfrm>
            <a:off x="6309360" y="3392424"/>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300" dirty="0"/>
          </a:p>
        </p:txBody>
      </p:sp>
      <p:sp>
        <p:nvSpPr>
          <p:cNvPr id="36" name="Text 34"/>
          <p:cNvSpPr/>
          <p:nvPr/>
        </p:nvSpPr>
        <p:spPr>
          <a:xfrm>
            <a:off x="8755380" y="3867912"/>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37" name="Shape 35"/>
          <p:cNvSpPr/>
          <p:nvPr/>
        </p:nvSpPr>
        <p:spPr>
          <a:xfrm>
            <a:off x="6309360" y="4050792"/>
            <a:ext cx="5349240" cy="475488"/>
          </a:xfrm>
          <a:prstGeom prst="roundRect">
            <a:avLst>
              <a:gd name="adj" fmla="val 19231"/>
            </a:avLst>
          </a:prstGeom>
          <a:solidFill>
            <a:srgbClr val="1E2B4D"/>
          </a:solidFill>
        </p:spPr>
      </p:sp>
      <p:sp>
        <p:nvSpPr>
          <p:cNvPr id="38" name="Text 36"/>
          <p:cNvSpPr/>
          <p:nvPr/>
        </p:nvSpPr>
        <p:spPr>
          <a:xfrm>
            <a:off x="6309360" y="4050792"/>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Machine Learning</a:t>
            </a:r>
            <a:endParaRPr lang="en-US" sz="1300" dirty="0"/>
          </a:p>
        </p:txBody>
      </p:sp>
      <p:sp>
        <p:nvSpPr>
          <p:cNvPr id="39" name="Text 37"/>
          <p:cNvSpPr/>
          <p:nvPr/>
        </p:nvSpPr>
        <p:spPr>
          <a:xfrm>
            <a:off x="8755380" y="4526280"/>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40" name="Shape 38"/>
          <p:cNvSpPr/>
          <p:nvPr/>
        </p:nvSpPr>
        <p:spPr>
          <a:xfrm>
            <a:off x="6309360" y="4709160"/>
            <a:ext cx="5349240" cy="475488"/>
          </a:xfrm>
          <a:prstGeom prst="roundRect">
            <a:avLst>
              <a:gd name="adj" fmla="val 19231"/>
            </a:avLst>
          </a:prstGeom>
          <a:solidFill>
            <a:srgbClr val="1E2B4D"/>
          </a:solidFill>
        </p:spPr>
      </p:sp>
      <p:sp>
        <p:nvSpPr>
          <p:cNvPr id="41" name="Text 39"/>
          <p:cNvSpPr/>
          <p:nvPr/>
        </p:nvSpPr>
        <p:spPr>
          <a:xfrm>
            <a:off x="6309360" y="4709160"/>
            <a:ext cx="5349240" cy="475488"/>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Dashboard</a:t>
            </a:r>
            <a:endParaRPr lang="en-US" sz="1300" dirty="0"/>
          </a:p>
        </p:txBody>
      </p:sp>
      <p:sp>
        <p:nvSpPr>
          <p:cNvPr id="42" name="Text 40"/>
          <p:cNvSpPr/>
          <p:nvPr/>
        </p:nvSpPr>
        <p:spPr>
          <a:xfrm>
            <a:off x="8755380" y="5184648"/>
            <a:ext cx="457200" cy="182880"/>
          </a:xfrm>
          <a:prstGeom prst="rect">
            <a:avLst/>
          </a:prstGeom>
          <a:noFill/>
        </p:spPr>
        <p:txBody>
          <a:bodyPr wrap="square" lIns="0" tIns="0" rIns="0" bIns="0" rtlCol="0" anchor="ctr"/>
          <a:lstStyle/>
          <a:p>
            <a:pPr marL="0" indent="0" algn="ctr">
              <a:buNone/>
            </a:pPr>
            <a:r>
              <a:rPr lang="en-US" sz="12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43" name="Shape 41"/>
          <p:cNvSpPr/>
          <p:nvPr/>
        </p:nvSpPr>
        <p:spPr>
          <a:xfrm>
            <a:off x="6309360" y="5367528"/>
            <a:ext cx="5349240" cy="475488"/>
          </a:xfrm>
          <a:prstGeom prst="roundRect">
            <a:avLst>
              <a:gd name="adj" fmla="val 19231"/>
            </a:avLst>
          </a:prstGeom>
          <a:solidFill>
            <a:srgbClr val="5BC0BE"/>
          </a:solidFill>
        </p:spPr>
      </p:sp>
      <p:sp>
        <p:nvSpPr>
          <p:cNvPr id="44" name="Text 42"/>
          <p:cNvSpPr/>
          <p:nvPr/>
        </p:nvSpPr>
        <p:spPr>
          <a:xfrm>
            <a:off x="6309360" y="5367528"/>
            <a:ext cx="5349240" cy="475488"/>
          </a:xfrm>
          <a:prstGeom prst="rect">
            <a:avLst/>
          </a:prstGeom>
          <a:noFill/>
        </p:spPr>
        <p:txBody>
          <a:bodyPr wrap="square" lIns="0" tIns="0" rIns="0" bIns="0" rtlCol="0" anchor="ctr"/>
          <a:lstStyle/>
          <a:p>
            <a:pPr marL="0" indent="0" algn="ctr">
              <a:buNone/>
            </a:pPr>
            <a:r>
              <a:rPr lang="en-US" sz="1300" b="1" dirty="0">
                <a:solidFill>
                  <a:srgbClr val="0B132B"/>
                </a:solidFill>
                <a:latin typeface="Calibri" panose="020F0502020204030204" pitchFamily="34" charset="0"/>
                <a:ea typeface="Calibri" panose="020F0502020204030204" pitchFamily="34" charset="-122"/>
                <a:cs typeface="Calibri" panose="020F0502020204030204" pitchFamily="34" charset="-120"/>
              </a:rPr>
              <a:t>Business Insights</a:t>
            </a:r>
            <a:endParaRPr lang="en-US" sz="1300" dirty="0"/>
          </a:p>
        </p:txBody>
      </p:sp>
      <p:sp>
        <p:nvSpPr>
          <p:cNvPr id="45" name="Shape 43"/>
          <p:cNvSpPr/>
          <p:nvPr/>
        </p:nvSpPr>
        <p:spPr>
          <a:xfrm>
            <a:off x="548640" y="5623560"/>
            <a:ext cx="5349240" cy="685800"/>
          </a:xfrm>
          <a:prstGeom prst="roundRect">
            <a:avLst>
              <a:gd name="adj" fmla="val 10667"/>
            </a:avLst>
          </a:prstGeom>
          <a:solidFill>
            <a:srgbClr val="1E2B4D"/>
          </a:solidFill>
        </p:spPr>
      </p:sp>
      <p:sp>
        <p:nvSpPr>
          <p:cNvPr id="46" name="Text 44"/>
          <p:cNvSpPr/>
          <p:nvPr/>
        </p:nvSpPr>
        <p:spPr>
          <a:xfrm>
            <a:off x="777240" y="5623560"/>
            <a:ext cx="4892040" cy="685800"/>
          </a:xfrm>
          <a:prstGeom prst="rect">
            <a:avLst/>
          </a:prstGeom>
          <a:noFill/>
        </p:spPr>
        <p:txBody>
          <a:bodyPr wrap="square" lIns="0" tIns="0" rIns="0" bIns="0" rtlCol="0" anchor="ctr"/>
          <a:lstStyle/>
          <a:p>
            <a:pPr marL="0" indent="0">
              <a:buNone/>
            </a:pPr>
            <a:r>
              <a:rPr lang="en-US" sz="1100" i="1" dirty="0">
                <a:solidFill>
                  <a:srgbClr val="8D9AB8"/>
                </a:solidFill>
                <a:latin typeface="Calibri" panose="020F0502020204030204" pitchFamily="34" charset="0"/>
                <a:ea typeface="Calibri" panose="020F0502020204030204" pitchFamily="34" charset="-122"/>
                <a:cs typeface="Calibri" panose="020F0502020204030204" pitchFamily="34" charset="-120"/>
              </a:rPr>
              <a:t>Each objective maps directly to a dashboard or model shown later in this deck.</a:t>
            </a:r>
            <a:endParaRPr lang="en-US" sz="1100" dirty="0"/>
          </a:p>
        </p:txBody>
      </p:sp>
      <p:sp>
        <p:nvSpPr>
          <p:cNvPr id="48" name="Text 45"/>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49" name="Text 46"/>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THE RAW MATERIAL</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Dataset Description</a:t>
            </a:r>
            <a:endParaRPr lang="en-US" sz="3000" dirty="0"/>
          </a:p>
        </p:txBody>
      </p:sp>
      <p:sp>
        <p:nvSpPr>
          <p:cNvPr id="4" name="Shape 2"/>
          <p:cNvSpPr/>
          <p:nvPr/>
        </p:nvSpPr>
        <p:spPr>
          <a:xfrm>
            <a:off x="548640" y="1508760"/>
            <a:ext cx="5394960" cy="914400"/>
          </a:xfrm>
          <a:prstGeom prst="roundRect">
            <a:avLst>
              <a:gd name="adj" fmla="val 8000"/>
            </a:avLst>
          </a:prstGeom>
          <a:solidFill>
            <a:srgbClr val="1E2B4D"/>
          </a:solidFill>
          <a:effectLst>
            <a:outerShdw blurRad="127000" dist="38100" dir="5400000" algn="bl" rotWithShape="0">
              <a:srgbClr val="000000">
                <a:alpha val="35000"/>
              </a:srgbClr>
            </a:outerShdw>
          </a:effectLst>
        </p:spPr>
      </p:sp>
      <p:sp>
        <p:nvSpPr>
          <p:cNvPr id="5" name="Text 3"/>
          <p:cNvSpPr/>
          <p:nvPr/>
        </p:nvSpPr>
        <p:spPr>
          <a:xfrm>
            <a:off x="822960" y="1645920"/>
            <a:ext cx="2743200" cy="256032"/>
          </a:xfrm>
          <a:prstGeom prst="rect">
            <a:avLst/>
          </a:prstGeom>
          <a:noFill/>
        </p:spPr>
        <p:txBody>
          <a:bodyPr wrap="square" lIns="0" tIns="0" rIns="0" bIns="0" rtlCol="0" anchor="ctr"/>
          <a:lstStyle/>
          <a:p>
            <a:pPr marL="0" indent="0">
              <a:buNone/>
            </a:pPr>
            <a:r>
              <a:rPr lang="en-US" sz="1050" b="1" kern="0" spc="150" dirty="0">
                <a:solidFill>
                  <a:srgbClr val="5BC0BE"/>
                </a:solidFill>
                <a:latin typeface="Calibri" panose="020F0502020204030204" pitchFamily="34" charset="0"/>
                <a:ea typeface="Calibri" panose="020F0502020204030204" pitchFamily="34" charset="-122"/>
                <a:cs typeface="Calibri" panose="020F0502020204030204" pitchFamily="34" charset="-120"/>
              </a:rPr>
              <a:t>DATASET</a:t>
            </a:r>
            <a:endParaRPr lang="en-US" sz="1050" dirty="0"/>
          </a:p>
        </p:txBody>
      </p:sp>
      <p:sp>
        <p:nvSpPr>
          <p:cNvPr id="6" name="Text 4"/>
          <p:cNvSpPr/>
          <p:nvPr/>
        </p:nvSpPr>
        <p:spPr>
          <a:xfrm>
            <a:off x="822960" y="1901952"/>
            <a:ext cx="4846320" cy="457200"/>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Online Retail II Dataset</a:t>
            </a:r>
            <a:endParaRPr lang="en-US" sz="1800" dirty="0"/>
          </a:p>
        </p:txBody>
      </p:sp>
      <p:sp>
        <p:nvSpPr>
          <p:cNvPr id="7" name="Text 5"/>
          <p:cNvSpPr/>
          <p:nvPr/>
        </p:nvSpPr>
        <p:spPr>
          <a:xfrm>
            <a:off x="548640" y="2651760"/>
            <a:ext cx="4572000" cy="320040"/>
          </a:xfrm>
          <a:prstGeom prst="rect">
            <a:avLst/>
          </a:prstGeom>
          <a:noFill/>
        </p:spPr>
        <p:txBody>
          <a:bodyPr wrap="square" lIns="0" tIns="0" rIns="0" bIns="0" rtlCol="0" anchor="ctr"/>
          <a:lstStyle/>
          <a:p>
            <a:pPr marL="0" indent="0">
              <a:buNone/>
            </a:pPr>
            <a:r>
              <a:rPr lang="en-US" sz="1500" b="1" dirty="0">
                <a:solidFill>
                  <a:srgbClr val="5BC0BE"/>
                </a:solidFill>
                <a:latin typeface="Cambria" panose="02040503050406030204" pitchFamily="34" charset="0"/>
                <a:ea typeface="Cambria" panose="02040503050406030204" pitchFamily="34" charset="-122"/>
                <a:cs typeface="Cambria" panose="02040503050406030204" pitchFamily="34" charset="-120"/>
              </a:rPr>
              <a:t>Dataset Features</a:t>
            </a:r>
            <a:endParaRPr lang="en-US" sz="1500" dirty="0"/>
          </a:p>
        </p:txBody>
      </p:sp>
      <p:sp>
        <p:nvSpPr>
          <p:cNvPr id="8" name="Text 6"/>
          <p:cNvSpPr/>
          <p:nvPr/>
        </p:nvSpPr>
        <p:spPr>
          <a:xfrm>
            <a:off x="548640" y="3017520"/>
            <a:ext cx="5394960" cy="2743200"/>
          </a:xfrm>
          <a:prstGeom prst="rect">
            <a:avLst/>
          </a:prstGeom>
          <a:noFill/>
        </p:spPr>
        <p:txBody>
          <a:bodyPr wrap="square" lIns="0" tIns="0" rIns="0" bIns="0" rtlCol="0" anchor="t"/>
          <a:lstStyle/>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Invoice Number</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Customer ID</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Product Description</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Quantity</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Unit Price</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Country</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Invoice Date</a:t>
            </a:r>
            <a:endParaRPr lang="en-US" sz="1300" dirty="0"/>
          </a:p>
        </p:txBody>
      </p:sp>
      <p:sp>
        <p:nvSpPr>
          <p:cNvPr id="9" name="Text 7"/>
          <p:cNvSpPr/>
          <p:nvPr/>
        </p:nvSpPr>
        <p:spPr>
          <a:xfrm>
            <a:off x="6309360" y="2651760"/>
            <a:ext cx="4572000" cy="320040"/>
          </a:xfrm>
          <a:prstGeom prst="rect">
            <a:avLst/>
          </a:prstGeom>
          <a:noFill/>
        </p:spPr>
        <p:txBody>
          <a:bodyPr wrap="square" lIns="0" tIns="0" rIns="0" bIns="0" rtlCol="0" anchor="ctr"/>
          <a:lstStyle/>
          <a:p>
            <a:pPr marL="0" indent="0">
              <a:buNone/>
            </a:pPr>
            <a:r>
              <a:rPr lang="en-US" sz="1500" b="1" dirty="0">
                <a:solidFill>
                  <a:srgbClr val="FFB627"/>
                </a:solidFill>
                <a:latin typeface="Cambria" panose="02040503050406030204" pitchFamily="34" charset="0"/>
                <a:ea typeface="Cambria" panose="02040503050406030204" pitchFamily="34" charset="-122"/>
                <a:cs typeface="Cambria" panose="02040503050406030204" pitchFamily="34" charset="-120"/>
              </a:rPr>
              <a:t>Engineered Features</a:t>
            </a:r>
            <a:endParaRPr lang="en-US" sz="1500" dirty="0"/>
          </a:p>
        </p:txBody>
      </p:sp>
      <p:sp>
        <p:nvSpPr>
          <p:cNvPr id="10" name="Text 8"/>
          <p:cNvSpPr/>
          <p:nvPr/>
        </p:nvSpPr>
        <p:spPr>
          <a:xfrm>
            <a:off x="6309360" y="3017520"/>
            <a:ext cx="5029200" cy="2743200"/>
          </a:xfrm>
          <a:prstGeom prst="rect">
            <a:avLst/>
          </a:prstGeom>
          <a:noFill/>
        </p:spPr>
        <p:txBody>
          <a:bodyPr wrap="square" lIns="0" tIns="0" rIns="0" bIns="0" rtlCol="0" anchor="t"/>
          <a:lstStyle/>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Revenue</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Month &amp; Quarter</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Customer Lifetime Value (CLV)</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Customer Segments</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Churn Status</a:t>
            </a:r>
            <a:endParaRPr lang="en-US" sz="1300" dirty="0"/>
          </a:p>
          <a:p>
            <a:pPr marL="177800" indent="-177800">
              <a:spcAft>
                <a:spcPts val="800"/>
              </a:spcAft>
              <a:buSzPct val="100000"/>
              <a:buChar char="▪"/>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Inventory Risk</a:t>
            </a:r>
            <a:endParaRPr lang="en-US" sz="1300" dirty="0"/>
          </a:p>
        </p:txBody>
      </p:sp>
      <p:sp>
        <p:nvSpPr>
          <p:cNvPr id="11" name="Shape 9"/>
          <p:cNvSpPr/>
          <p:nvPr/>
        </p:nvSpPr>
        <p:spPr>
          <a:xfrm>
            <a:off x="6309360" y="1508760"/>
            <a:ext cx="5029200" cy="914400"/>
          </a:xfrm>
          <a:prstGeom prst="roundRect">
            <a:avLst>
              <a:gd name="adj" fmla="val 8000"/>
            </a:avLst>
          </a:prstGeom>
          <a:solidFill>
            <a:srgbClr val="16213E"/>
          </a:solidFill>
          <a:effectLst>
            <a:outerShdw blurRad="127000" dist="38100" dir="5400000" algn="bl" rotWithShape="0">
              <a:srgbClr val="000000">
                <a:alpha val="35000"/>
              </a:srgbClr>
            </a:outerShdw>
          </a:effectLst>
        </p:spPr>
      </p:sp>
      <p:sp>
        <p:nvSpPr>
          <p:cNvPr id="12" name="Text 10"/>
          <p:cNvSpPr/>
          <p:nvPr/>
        </p:nvSpPr>
        <p:spPr>
          <a:xfrm>
            <a:off x="6537960" y="1627632"/>
            <a:ext cx="4572000" cy="685800"/>
          </a:xfrm>
          <a:prstGeom prst="rect">
            <a:avLst/>
          </a:prstGeom>
          <a:noFill/>
        </p:spPr>
        <p:txBody>
          <a:bodyPr wrap="square" lIns="0" tIns="0" rIns="0" bIns="0" rtlCol="0" anchor="ctr"/>
          <a:lstStyle/>
          <a:p>
            <a:pPr marL="0" indent="0">
              <a:buNone/>
            </a:pPr>
            <a:r>
              <a:rPr lang="en-US" sz="1150" i="1" dirty="0">
                <a:solidFill>
                  <a:srgbClr val="8D9AB8"/>
                </a:solidFill>
                <a:latin typeface="Calibri" panose="020F0502020204030204" pitchFamily="34" charset="0"/>
                <a:ea typeface="Calibri" panose="020F0502020204030204" pitchFamily="34" charset="-122"/>
                <a:cs typeface="Calibri" panose="020F0502020204030204" pitchFamily="34" charset="-120"/>
              </a:rPr>
              <a:t>Feature engineering transformed raw transaction fields into business-ready analytical signals used across every model in this platform.</a:t>
            </a:r>
            <a:endParaRPr lang="en-US" sz="1150" dirty="0"/>
          </a:p>
        </p:txBody>
      </p:sp>
      <p:sp>
        <p:nvSpPr>
          <p:cNvPr id="13" name="Shape 11"/>
          <p:cNvSpPr/>
          <p:nvPr/>
        </p:nvSpPr>
        <p:spPr>
          <a:xfrm>
            <a:off x="548640" y="5074920"/>
            <a:ext cx="11091672" cy="1234440"/>
          </a:xfrm>
          <a:prstGeom prst="roundRect">
            <a:avLst>
              <a:gd name="adj" fmla="val 5926"/>
            </a:avLst>
          </a:prstGeom>
          <a:solidFill>
            <a:srgbClr val="1E2B4D"/>
          </a:solidFill>
          <a:effectLst>
            <a:outerShdw blurRad="127000" dist="38100" dir="5400000" algn="bl" rotWithShape="0">
              <a:srgbClr val="000000">
                <a:alpha val="35000"/>
              </a:srgbClr>
            </a:outerShdw>
          </a:effectLst>
        </p:spPr>
      </p:sp>
      <p:sp>
        <p:nvSpPr>
          <p:cNvPr id="14" name="Text 12"/>
          <p:cNvSpPr/>
          <p:nvPr/>
        </p:nvSpPr>
        <p:spPr>
          <a:xfrm>
            <a:off x="548640" y="5230368"/>
            <a:ext cx="2772918" cy="548640"/>
          </a:xfrm>
          <a:prstGeom prst="rect">
            <a:avLst/>
          </a:prstGeom>
          <a:noFill/>
        </p:spPr>
        <p:txBody>
          <a:bodyPr wrap="square" lIns="0" tIns="0" rIns="0" bIns="0" rtlCol="0" anchor="ctr"/>
          <a:lstStyle/>
          <a:p>
            <a:pPr marL="0" indent="0" algn="ctr">
              <a:buNone/>
            </a:pPr>
            <a:r>
              <a:rPr lang="en-US" sz="3000" b="1" dirty="0">
                <a:solidFill>
                  <a:srgbClr val="5BC0BE"/>
                </a:solidFill>
                <a:latin typeface="Cambria" panose="02040503050406030204" pitchFamily="34" charset="0"/>
                <a:ea typeface="Cambria" panose="02040503050406030204" pitchFamily="34" charset="-122"/>
                <a:cs typeface="Cambria" panose="02040503050406030204" pitchFamily="34" charset="-120"/>
              </a:rPr>
              <a:t>1M+</a:t>
            </a:r>
            <a:endParaRPr lang="en-US" sz="3000" dirty="0"/>
          </a:p>
        </p:txBody>
      </p:sp>
      <p:sp>
        <p:nvSpPr>
          <p:cNvPr id="15" name="Text 13"/>
          <p:cNvSpPr/>
          <p:nvPr/>
        </p:nvSpPr>
        <p:spPr>
          <a:xfrm>
            <a:off x="548640" y="5806440"/>
            <a:ext cx="2772918" cy="320040"/>
          </a:xfrm>
          <a:prstGeom prst="rect">
            <a:avLst/>
          </a:prstGeom>
          <a:noFill/>
        </p:spPr>
        <p:txBody>
          <a:bodyPr wrap="square" lIns="0" tIns="0" rIns="0" bIns="0" rtlCol="0" anchor="ctr"/>
          <a:lstStyle/>
          <a:p>
            <a:pPr marL="0" indent="0" algn="ctr">
              <a:buNone/>
            </a:pPr>
            <a:r>
              <a:rPr lang="en-US" sz="1050" kern="0" spc="50" dirty="0">
                <a:solidFill>
                  <a:srgbClr val="8D9AB8"/>
                </a:solidFill>
                <a:latin typeface="Calibri" panose="020F0502020204030204" pitchFamily="34" charset="0"/>
                <a:ea typeface="Calibri" panose="020F0502020204030204" pitchFamily="34" charset="-122"/>
                <a:cs typeface="Calibri" panose="020F0502020204030204" pitchFamily="34" charset="-120"/>
              </a:rPr>
              <a:t>Transactions</a:t>
            </a:r>
            <a:endParaRPr lang="en-US" sz="1050" dirty="0"/>
          </a:p>
        </p:txBody>
      </p:sp>
      <p:sp>
        <p:nvSpPr>
          <p:cNvPr id="16" name="Text 14"/>
          <p:cNvSpPr/>
          <p:nvPr/>
        </p:nvSpPr>
        <p:spPr>
          <a:xfrm>
            <a:off x="3321558" y="5230368"/>
            <a:ext cx="2772918" cy="548640"/>
          </a:xfrm>
          <a:prstGeom prst="rect">
            <a:avLst/>
          </a:prstGeom>
          <a:noFill/>
        </p:spPr>
        <p:txBody>
          <a:bodyPr wrap="square" lIns="0" tIns="0" rIns="0" bIns="0" rtlCol="0" anchor="ctr"/>
          <a:lstStyle/>
          <a:p>
            <a:pPr marL="0" indent="0" algn="ctr">
              <a:buNone/>
            </a:pPr>
            <a:r>
              <a:rPr lang="en-US" sz="3000" b="1" dirty="0">
                <a:solidFill>
                  <a:srgbClr val="5BC0BE"/>
                </a:solidFill>
                <a:latin typeface="Cambria" panose="02040503050406030204" pitchFamily="34" charset="0"/>
                <a:ea typeface="Cambria" panose="02040503050406030204" pitchFamily="34" charset="-122"/>
                <a:cs typeface="Cambria" panose="02040503050406030204" pitchFamily="34" charset="-120"/>
              </a:rPr>
              <a:t>4,300+</a:t>
            </a:r>
            <a:endParaRPr lang="en-US" sz="3000" dirty="0"/>
          </a:p>
        </p:txBody>
      </p:sp>
      <p:sp>
        <p:nvSpPr>
          <p:cNvPr id="17" name="Text 15"/>
          <p:cNvSpPr/>
          <p:nvPr/>
        </p:nvSpPr>
        <p:spPr>
          <a:xfrm>
            <a:off x="3321558" y="5806440"/>
            <a:ext cx="2772918" cy="320040"/>
          </a:xfrm>
          <a:prstGeom prst="rect">
            <a:avLst/>
          </a:prstGeom>
          <a:noFill/>
        </p:spPr>
        <p:txBody>
          <a:bodyPr wrap="square" lIns="0" tIns="0" rIns="0" bIns="0" rtlCol="0" anchor="ctr"/>
          <a:lstStyle/>
          <a:p>
            <a:pPr marL="0" indent="0" algn="ctr">
              <a:buNone/>
            </a:pPr>
            <a:r>
              <a:rPr lang="en-US" sz="1050" kern="0" spc="50" dirty="0">
                <a:solidFill>
                  <a:srgbClr val="8D9AB8"/>
                </a:solidFill>
                <a:latin typeface="Calibri" panose="020F0502020204030204" pitchFamily="34" charset="0"/>
                <a:ea typeface="Calibri" panose="020F0502020204030204" pitchFamily="34" charset="-122"/>
                <a:cs typeface="Calibri" panose="020F0502020204030204" pitchFamily="34" charset="-120"/>
              </a:rPr>
              <a:t>Unique Customers</a:t>
            </a:r>
            <a:endParaRPr lang="en-US" sz="1050" dirty="0"/>
          </a:p>
        </p:txBody>
      </p:sp>
      <p:sp>
        <p:nvSpPr>
          <p:cNvPr id="18" name="Shape 16"/>
          <p:cNvSpPr/>
          <p:nvPr/>
        </p:nvSpPr>
        <p:spPr>
          <a:xfrm>
            <a:off x="3321558" y="5257800"/>
            <a:ext cx="0" cy="822960"/>
          </a:xfrm>
          <a:prstGeom prst="line">
            <a:avLst/>
          </a:prstGeom>
          <a:noFill/>
          <a:ln w="12700">
            <a:solidFill>
              <a:srgbClr val="2C3A63"/>
            </a:solidFill>
            <a:prstDash val="solid"/>
          </a:ln>
        </p:spPr>
      </p:sp>
      <p:sp>
        <p:nvSpPr>
          <p:cNvPr id="19" name="Text 17"/>
          <p:cNvSpPr/>
          <p:nvPr/>
        </p:nvSpPr>
        <p:spPr>
          <a:xfrm>
            <a:off x="6094476" y="5230368"/>
            <a:ext cx="2772918" cy="548640"/>
          </a:xfrm>
          <a:prstGeom prst="rect">
            <a:avLst/>
          </a:prstGeom>
          <a:noFill/>
        </p:spPr>
        <p:txBody>
          <a:bodyPr wrap="square" lIns="0" tIns="0" rIns="0" bIns="0" rtlCol="0" anchor="ctr"/>
          <a:lstStyle/>
          <a:p>
            <a:pPr marL="0" indent="0" algn="ctr">
              <a:buNone/>
            </a:pPr>
            <a:r>
              <a:rPr lang="en-US" sz="3000" b="1" dirty="0">
                <a:solidFill>
                  <a:srgbClr val="5BC0BE"/>
                </a:solidFill>
                <a:latin typeface="Cambria" panose="02040503050406030204" pitchFamily="34" charset="0"/>
                <a:ea typeface="Cambria" panose="02040503050406030204" pitchFamily="34" charset="-122"/>
                <a:cs typeface="Cambria" panose="02040503050406030204" pitchFamily="34" charset="-120"/>
              </a:rPr>
              <a:t>43</a:t>
            </a:r>
            <a:endParaRPr lang="en-US" sz="3000" dirty="0"/>
          </a:p>
        </p:txBody>
      </p:sp>
      <p:sp>
        <p:nvSpPr>
          <p:cNvPr id="20" name="Text 18"/>
          <p:cNvSpPr/>
          <p:nvPr/>
        </p:nvSpPr>
        <p:spPr>
          <a:xfrm>
            <a:off x="6094476" y="5806440"/>
            <a:ext cx="2772918" cy="320040"/>
          </a:xfrm>
          <a:prstGeom prst="rect">
            <a:avLst/>
          </a:prstGeom>
          <a:noFill/>
        </p:spPr>
        <p:txBody>
          <a:bodyPr wrap="square" lIns="0" tIns="0" rIns="0" bIns="0" rtlCol="0" anchor="ctr"/>
          <a:lstStyle/>
          <a:p>
            <a:pPr marL="0" indent="0" algn="ctr">
              <a:buNone/>
            </a:pPr>
            <a:r>
              <a:rPr lang="en-US" sz="1050" kern="0" spc="50" dirty="0">
                <a:solidFill>
                  <a:srgbClr val="8D9AB8"/>
                </a:solidFill>
                <a:latin typeface="Calibri" panose="020F0502020204030204" pitchFamily="34" charset="0"/>
                <a:ea typeface="Calibri" panose="020F0502020204030204" pitchFamily="34" charset="-122"/>
                <a:cs typeface="Calibri" panose="020F0502020204030204" pitchFamily="34" charset="-120"/>
              </a:rPr>
              <a:t>Countries Covered</a:t>
            </a:r>
            <a:endParaRPr lang="en-US" sz="1050" dirty="0"/>
          </a:p>
        </p:txBody>
      </p:sp>
      <p:sp>
        <p:nvSpPr>
          <p:cNvPr id="21" name="Shape 19"/>
          <p:cNvSpPr/>
          <p:nvPr/>
        </p:nvSpPr>
        <p:spPr>
          <a:xfrm>
            <a:off x="6094476" y="5257800"/>
            <a:ext cx="0" cy="822960"/>
          </a:xfrm>
          <a:prstGeom prst="line">
            <a:avLst/>
          </a:prstGeom>
          <a:noFill/>
          <a:ln w="12700">
            <a:solidFill>
              <a:srgbClr val="2C3A63"/>
            </a:solidFill>
            <a:prstDash val="solid"/>
          </a:ln>
        </p:spPr>
      </p:sp>
      <p:sp>
        <p:nvSpPr>
          <p:cNvPr id="22" name="Text 20"/>
          <p:cNvSpPr/>
          <p:nvPr/>
        </p:nvSpPr>
        <p:spPr>
          <a:xfrm>
            <a:off x="8867394" y="5230368"/>
            <a:ext cx="2772918" cy="548640"/>
          </a:xfrm>
          <a:prstGeom prst="rect">
            <a:avLst/>
          </a:prstGeom>
          <a:noFill/>
        </p:spPr>
        <p:txBody>
          <a:bodyPr wrap="square" lIns="0" tIns="0" rIns="0" bIns="0" rtlCol="0" anchor="ctr"/>
          <a:lstStyle/>
          <a:p>
            <a:pPr marL="0" indent="0" algn="ctr">
              <a:buNone/>
            </a:pPr>
            <a:r>
              <a:rPr lang="en-US" sz="3000" b="1" dirty="0">
                <a:solidFill>
                  <a:srgbClr val="5BC0BE"/>
                </a:solidFill>
                <a:latin typeface="Cambria" panose="02040503050406030204" pitchFamily="34" charset="0"/>
                <a:ea typeface="Cambria" panose="02040503050406030204" pitchFamily="34" charset="-122"/>
                <a:cs typeface="Cambria" panose="02040503050406030204" pitchFamily="34" charset="-120"/>
              </a:rPr>
              <a:t>2 Yrs</a:t>
            </a:r>
            <a:endParaRPr lang="en-US" sz="3000" dirty="0"/>
          </a:p>
        </p:txBody>
      </p:sp>
      <p:sp>
        <p:nvSpPr>
          <p:cNvPr id="23" name="Text 21"/>
          <p:cNvSpPr/>
          <p:nvPr/>
        </p:nvSpPr>
        <p:spPr>
          <a:xfrm>
            <a:off x="8867394" y="5806440"/>
            <a:ext cx="2772918" cy="320040"/>
          </a:xfrm>
          <a:prstGeom prst="rect">
            <a:avLst/>
          </a:prstGeom>
          <a:noFill/>
        </p:spPr>
        <p:txBody>
          <a:bodyPr wrap="square" lIns="0" tIns="0" rIns="0" bIns="0" rtlCol="0" anchor="ctr"/>
          <a:lstStyle/>
          <a:p>
            <a:pPr marL="0" indent="0" algn="ctr">
              <a:buNone/>
            </a:pPr>
            <a:r>
              <a:rPr lang="en-US" sz="1050" kern="0" spc="50" dirty="0">
                <a:solidFill>
                  <a:srgbClr val="8D9AB8"/>
                </a:solidFill>
                <a:latin typeface="Calibri" panose="020F0502020204030204" pitchFamily="34" charset="0"/>
                <a:ea typeface="Calibri" panose="020F0502020204030204" pitchFamily="34" charset="-122"/>
                <a:cs typeface="Calibri" panose="020F0502020204030204" pitchFamily="34" charset="-120"/>
              </a:rPr>
              <a:t>Historical Coverage</a:t>
            </a:r>
            <a:endParaRPr lang="en-US" sz="1050" dirty="0"/>
          </a:p>
        </p:txBody>
      </p:sp>
      <p:sp>
        <p:nvSpPr>
          <p:cNvPr id="24" name="Shape 22"/>
          <p:cNvSpPr/>
          <p:nvPr/>
        </p:nvSpPr>
        <p:spPr>
          <a:xfrm>
            <a:off x="8867394" y="5257800"/>
            <a:ext cx="0" cy="822960"/>
          </a:xfrm>
          <a:prstGeom prst="line">
            <a:avLst/>
          </a:prstGeom>
          <a:noFill/>
          <a:ln w="12700">
            <a:solidFill>
              <a:srgbClr val="2C3A63"/>
            </a:solidFill>
            <a:prstDash val="solid"/>
          </a:ln>
        </p:spPr>
      </p:sp>
      <p:sp>
        <p:nvSpPr>
          <p:cNvPr id="26" name="Text 23"/>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27" name="Text 24"/>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BUILT WITH</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Technology Stack</a:t>
            </a:r>
            <a:endParaRPr lang="en-US" sz="3000" dirty="0"/>
          </a:p>
        </p:txBody>
      </p:sp>
      <p:sp>
        <p:nvSpPr>
          <p:cNvPr id="4" name="Shape 2"/>
          <p:cNvSpPr/>
          <p:nvPr/>
        </p:nvSpPr>
        <p:spPr>
          <a:xfrm>
            <a:off x="548640" y="1463040"/>
            <a:ext cx="5394960" cy="603504"/>
          </a:xfrm>
          <a:prstGeom prst="roundRect">
            <a:avLst>
              <a:gd name="adj" fmla="val 12121"/>
            </a:avLst>
          </a:prstGeom>
          <a:solidFill>
            <a:srgbClr val="16213E"/>
          </a:solidFill>
        </p:spPr>
      </p:sp>
      <p:sp>
        <p:nvSpPr>
          <p:cNvPr id="5" name="Text 3"/>
          <p:cNvSpPr/>
          <p:nvPr/>
        </p:nvSpPr>
        <p:spPr>
          <a:xfrm>
            <a:off x="749808" y="151790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Programming Language</a:t>
            </a:r>
            <a:endParaRPr lang="en-US" sz="1000" dirty="0"/>
          </a:p>
        </p:txBody>
      </p:sp>
      <p:sp>
        <p:nvSpPr>
          <p:cNvPr id="6" name="Text 4"/>
          <p:cNvSpPr/>
          <p:nvPr/>
        </p:nvSpPr>
        <p:spPr>
          <a:xfrm>
            <a:off x="749808" y="173736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Python</a:t>
            </a:r>
            <a:endParaRPr lang="en-US" sz="1350" dirty="0"/>
          </a:p>
        </p:txBody>
      </p:sp>
      <p:sp>
        <p:nvSpPr>
          <p:cNvPr id="7" name="Text 5"/>
          <p:cNvSpPr/>
          <p:nvPr/>
        </p:nvSpPr>
        <p:spPr>
          <a:xfrm>
            <a:off x="3291840" y="158191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Core language powering the entire pipeline</a:t>
            </a:r>
            <a:endParaRPr lang="en-US" sz="980" dirty="0"/>
          </a:p>
        </p:txBody>
      </p:sp>
      <p:sp>
        <p:nvSpPr>
          <p:cNvPr id="8" name="Shape 6"/>
          <p:cNvSpPr/>
          <p:nvPr/>
        </p:nvSpPr>
        <p:spPr>
          <a:xfrm>
            <a:off x="6245352" y="1463040"/>
            <a:ext cx="5394960" cy="603504"/>
          </a:xfrm>
          <a:prstGeom prst="roundRect">
            <a:avLst>
              <a:gd name="adj" fmla="val 12121"/>
            </a:avLst>
          </a:prstGeom>
          <a:solidFill>
            <a:srgbClr val="16213E"/>
          </a:solidFill>
        </p:spPr>
      </p:sp>
      <p:sp>
        <p:nvSpPr>
          <p:cNvPr id="9" name="Text 7"/>
          <p:cNvSpPr/>
          <p:nvPr/>
        </p:nvSpPr>
        <p:spPr>
          <a:xfrm>
            <a:off x="6446520" y="151790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Data Analysis</a:t>
            </a:r>
            <a:endParaRPr lang="en-US" sz="1000" dirty="0"/>
          </a:p>
        </p:txBody>
      </p:sp>
      <p:sp>
        <p:nvSpPr>
          <p:cNvPr id="10" name="Text 8"/>
          <p:cNvSpPr/>
          <p:nvPr/>
        </p:nvSpPr>
        <p:spPr>
          <a:xfrm>
            <a:off x="6446520" y="173736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Pandas · NumPy</a:t>
            </a:r>
            <a:endParaRPr lang="en-US" sz="1350" dirty="0"/>
          </a:p>
        </p:txBody>
      </p:sp>
      <p:sp>
        <p:nvSpPr>
          <p:cNvPr id="11" name="Text 9"/>
          <p:cNvSpPr/>
          <p:nvPr/>
        </p:nvSpPr>
        <p:spPr>
          <a:xfrm>
            <a:off x="8988552" y="158191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Data manipulation, cleaning &amp; analysis</a:t>
            </a:r>
            <a:endParaRPr lang="en-US" sz="980" dirty="0"/>
          </a:p>
        </p:txBody>
      </p:sp>
      <p:sp>
        <p:nvSpPr>
          <p:cNvPr id="12" name="Shape 10"/>
          <p:cNvSpPr/>
          <p:nvPr/>
        </p:nvSpPr>
        <p:spPr>
          <a:xfrm>
            <a:off x="548640" y="2194560"/>
            <a:ext cx="5394960" cy="603504"/>
          </a:xfrm>
          <a:prstGeom prst="roundRect">
            <a:avLst>
              <a:gd name="adj" fmla="val 12121"/>
            </a:avLst>
          </a:prstGeom>
          <a:solidFill>
            <a:srgbClr val="16213E"/>
          </a:solidFill>
        </p:spPr>
      </p:sp>
      <p:sp>
        <p:nvSpPr>
          <p:cNvPr id="13" name="Text 11"/>
          <p:cNvSpPr/>
          <p:nvPr/>
        </p:nvSpPr>
        <p:spPr>
          <a:xfrm>
            <a:off x="749808" y="224942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Data Visualization</a:t>
            </a:r>
            <a:endParaRPr lang="en-US" sz="1000" dirty="0"/>
          </a:p>
        </p:txBody>
      </p:sp>
      <p:sp>
        <p:nvSpPr>
          <p:cNvPr id="14" name="Text 12"/>
          <p:cNvSpPr/>
          <p:nvPr/>
        </p:nvSpPr>
        <p:spPr>
          <a:xfrm>
            <a:off x="749808" y="246888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Plotly</a:t>
            </a:r>
            <a:endParaRPr lang="en-US" sz="1350" dirty="0"/>
          </a:p>
        </p:txBody>
      </p:sp>
      <p:sp>
        <p:nvSpPr>
          <p:cNvPr id="15" name="Text 13"/>
          <p:cNvSpPr/>
          <p:nvPr/>
        </p:nvSpPr>
        <p:spPr>
          <a:xfrm>
            <a:off x="3291840" y="231343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Interactive, drill-down visualizations</a:t>
            </a:r>
            <a:endParaRPr lang="en-US" sz="980" dirty="0"/>
          </a:p>
        </p:txBody>
      </p:sp>
      <p:sp>
        <p:nvSpPr>
          <p:cNvPr id="16" name="Shape 14"/>
          <p:cNvSpPr/>
          <p:nvPr/>
        </p:nvSpPr>
        <p:spPr>
          <a:xfrm>
            <a:off x="6245352" y="2194560"/>
            <a:ext cx="5394960" cy="603504"/>
          </a:xfrm>
          <a:prstGeom prst="roundRect">
            <a:avLst>
              <a:gd name="adj" fmla="val 12121"/>
            </a:avLst>
          </a:prstGeom>
          <a:solidFill>
            <a:srgbClr val="16213E"/>
          </a:solidFill>
        </p:spPr>
      </p:sp>
      <p:sp>
        <p:nvSpPr>
          <p:cNvPr id="17" name="Text 15"/>
          <p:cNvSpPr/>
          <p:nvPr/>
        </p:nvSpPr>
        <p:spPr>
          <a:xfrm>
            <a:off x="6446520" y="224942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Machine Learning</a:t>
            </a:r>
            <a:endParaRPr lang="en-US" sz="1000" dirty="0"/>
          </a:p>
        </p:txBody>
      </p:sp>
      <p:sp>
        <p:nvSpPr>
          <p:cNvPr id="18" name="Text 16"/>
          <p:cNvSpPr/>
          <p:nvPr/>
        </p:nvSpPr>
        <p:spPr>
          <a:xfrm>
            <a:off x="6446520" y="246888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Scikit-Learn</a:t>
            </a:r>
            <a:endParaRPr lang="en-US" sz="1350" dirty="0"/>
          </a:p>
        </p:txBody>
      </p:sp>
      <p:sp>
        <p:nvSpPr>
          <p:cNvPr id="19" name="Text 17"/>
          <p:cNvSpPr/>
          <p:nvPr/>
        </p:nvSpPr>
        <p:spPr>
          <a:xfrm>
            <a:off x="8988552" y="231343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Segmentation &amp; churn prediction models</a:t>
            </a:r>
            <a:endParaRPr lang="en-US" sz="980" dirty="0"/>
          </a:p>
        </p:txBody>
      </p:sp>
      <p:sp>
        <p:nvSpPr>
          <p:cNvPr id="20" name="Shape 18"/>
          <p:cNvSpPr/>
          <p:nvPr/>
        </p:nvSpPr>
        <p:spPr>
          <a:xfrm>
            <a:off x="548640" y="2926080"/>
            <a:ext cx="5394960" cy="603504"/>
          </a:xfrm>
          <a:prstGeom prst="roundRect">
            <a:avLst>
              <a:gd name="adj" fmla="val 12121"/>
            </a:avLst>
          </a:prstGeom>
          <a:solidFill>
            <a:srgbClr val="16213E"/>
          </a:solidFill>
        </p:spPr>
      </p:sp>
      <p:sp>
        <p:nvSpPr>
          <p:cNvPr id="21" name="Text 19"/>
          <p:cNvSpPr/>
          <p:nvPr/>
        </p:nvSpPr>
        <p:spPr>
          <a:xfrm>
            <a:off x="749808" y="298094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Forecasting</a:t>
            </a:r>
            <a:endParaRPr lang="en-US" sz="1000" dirty="0"/>
          </a:p>
        </p:txBody>
      </p:sp>
      <p:sp>
        <p:nvSpPr>
          <p:cNvPr id="22" name="Text 20"/>
          <p:cNvSpPr/>
          <p:nvPr/>
        </p:nvSpPr>
        <p:spPr>
          <a:xfrm>
            <a:off x="749808" y="320040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Prophet</a:t>
            </a:r>
            <a:endParaRPr lang="en-US" sz="1350" dirty="0"/>
          </a:p>
        </p:txBody>
      </p:sp>
      <p:sp>
        <p:nvSpPr>
          <p:cNvPr id="23" name="Text 21"/>
          <p:cNvSpPr/>
          <p:nvPr/>
        </p:nvSpPr>
        <p:spPr>
          <a:xfrm>
            <a:off x="3291840" y="304495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Time-series revenue forecasting</a:t>
            </a:r>
            <a:endParaRPr lang="en-US" sz="980" dirty="0"/>
          </a:p>
        </p:txBody>
      </p:sp>
      <p:sp>
        <p:nvSpPr>
          <p:cNvPr id="24" name="Shape 22"/>
          <p:cNvSpPr/>
          <p:nvPr/>
        </p:nvSpPr>
        <p:spPr>
          <a:xfrm>
            <a:off x="6245352" y="2926080"/>
            <a:ext cx="5394960" cy="603504"/>
          </a:xfrm>
          <a:prstGeom prst="roundRect">
            <a:avLst>
              <a:gd name="adj" fmla="val 12121"/>
            </a:avLst>
          </a:prstGeom>
          <a:solidFill>
            <a:srgbClr val="16213E"/>
          </a:solidFill>
        </p:spPr>
      </p:sp>
      <p:sp>
        <p:nvSpPr>
          <p:cNvPr id="25" name="Text 23"/>
          <p:cNvSpPr/>
          <p:nvPr/>
        </p:nvSpPr>
        <p:spPr>
          <a:xfrm>
            <a:off x="6446520" y="298094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Dashboard</a:t>
            </a:r>
            <a:endParaRPr lang="en-US" sz="1000" dirty="0"/>
          </a:p>
        </p:txBody>
      </p:sp>
      <p:sp>
        <p:nvSpPr>
          <p:cNvPr id="26" name="Text 24"/>
          <p:cNvSpPr/>
          <p:nvPr/>
        </p:nvSpPr>
        <p:spPr>
          <a:xfrm>
            <a:off x="6446520" y="320040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Streamlit</a:t>
            </a:r>
            <a:endParaRPr lang="en-US" sz="1350" dirty="0"/>
          </a:p>
        </p:txBody>
      </p:sp>
      <p:sp>
        <p:nvSpPr>
          <p:cNvPr id="27" name="Text 25"/>
          <p:cNvSpPr/>
          <p:nvPr/>
        </p:nvSpPr>
        <p:spPr>
          <a:xfrm>
            <a:off x="8988552" y="304495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Interactive web application layer</a:t>
            </a:r>
            <a:endParaRPr lang="en-US" sz="980" dirty="0"/>
          </a:p>
        </p:txBody>
      </p:sp>
      <p:sp>
        <p:nvSpPr>
          <p:cNvPr id="28" name="Shape 26"/>
          <p:cNvSpPr/>
          <p:nvPr/>
        </p:nvSpPr>
        <p:spPr>
          <a:xfrm>
            <a:off x="548640" y="3657600"/>
            <a:ext cx="5394960" cy="603504"/>
          </a:xfrm>
          <a:prstGeom prst="roundRect">
            <a:avLst>
              <a:gd name="adj" fmla="val 12121"/>
            </a:avLst>
          </a:prstGeom>
          <a:solidFill>
            <a:srgbClr val="16213E"/>
          </a:solidFill>
        </p:spPr>
      </p:sp>
      <p:sp>
        <p:nvSpPr>
          <p:cNvPr id="29" name="Text 27"/>
          <p:cNvSpPr/>
          <p:nvPr/>
        </p:nvSpPr>
        <p:spPr>
          <a:xfrm>
            <a:off x="749808" y="371246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Version Control</a:t>
            </a:r>
            <a:endParaRPr lang="en-US" sz="1000" dirty="0"/>
          </a:p>
        </p:txBody>
      </p:sp>
      <p:sp>
        <p:nvSpPr>
          <p:cNvPr id="30" name="Text 28"/>
          <p:cNvSpPr/>
          <p:nvPr/>
        </p:nvSpPr>
        <p:spPr>
          <a:xfrm>
            <a:off x="749808" y="393192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Git &amp; GitHub</a:t>
            </a:r>
            <a:endParaRPr lang="en-US" sz="1350" dirty="0"/>
          </a:p>
        </p:txBody>
      </p:sp>
      <p:sp>
        <p:nvSpPr>
          <p:cNvPr id="31" name="Text 29"/>
          <p:cNvSpPr/>
          <p:nvPr/>
        </p:nvSpPr>
        <p:spPr>
          <a:xfrm>
            <a:off x="3291840" y="377647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Source control and collaboration</a:t>
            </a:r>
            <a:endParaRPr lang="en-US" sz="980" dirty="0"/>
          </a:p>
        </p:txBody>
      </p:sp>
      <p:sp>
        <p:nvSpPr>
          <p:cNvPr id="32" name="Shape 30"/>
          <p:cNvSpPr/>
          <p:nvPr/>
        </p:nvSpPr>
        <p:spPr>
          <a:xfrm>
            <a:off x="6245352" y="3657600"/>
            <a:ext cx="5394960" cy="603504"/>
          </a:xfrm>
          <a:prstGeom prst="roundRect">
            <a:avLst>
              <a:gd name="adj" fmla="val 12121"/>
            </a:avLst>
          </a:prstGeom>
          <a:solidFill>
            <a:srgbClr val="16213E"/>
          </a:solidFill>
        </p:spPr>
      </p:sp>
      <p:sp>
        <p:nvSpPr>
          <p:cNvPr id="33" name="Text 31"/>
          <p:cNvSpPr/>
          <p:nvPr/>
        </p:nvSpPr>
        <p:spPr>
          <a:xfrm>
            <a:off x="6446520" y="3712464"/>
            <a:ext cx="2468880" cy="256032"/>
          </a:xfrm>
          <a:prstGeom prst="rect">
            <a:avLst/>
          </a:prstGeom>
          <a:noFill/>
        </p:spPr>
        <p:txBody>
          <a:bodyPr wrap="square" lIns="0" tIns="0" rIns="0" bIns="0" rtlCol="0" anchor="ctr"/>
          <a:lstStyle/>
          <a:p>
            <a:pPr marL="0" indent="0">
              <a:buNone/>
            </a:pPr>
            <a:r>
              <a:rPr lang="en-US" sz="1000" dirty="0">
                <a:solidFill>
                  <a:srgbClr val="8D9AB8"/>
                </a:solidFill>
                <a:latin typeface="Calibri" panose="020F0502020204030204" pitchFamily="34" charset="0"/>
                <a:ea typeface="Calibri" panose="020F0502020204030204" pitchFamily="34" charset="-122"/>
                <a:cs typeface="Calibri" panose="020F0502020204030204" pitchFamily="34" charset="-120"/>
              </a:rPr>
              <a:t>Deployment</a:t>
            </a:r>
            <a:endParaRPr lang="en-US" sz="1000" dirty="0"/>
          </a:p>
        </p:txBody>
      </p:sp>
      <p:sp>
        <p:nvSpPr>
          <p:cNvPr id="34" name="Text 32"/>
          <p:cNvSpPr/>
          <p:nvPr/>
        </p:nvSpPr>
        <p:spPr>
          <a:xfrm>
            <a:off x="6446520" y="3931920"/>
            <a:ext cx="2468880" cy="292608"/>
          </a:xfrm>
          <a:prstGeom prst="rect">
            <a:avLst/>
          </a:prstGeom>
          <a:noFill/>
        </p:spPr>
        <p:txBody>
          <a:bodyPr wrap="square" lIns="0" tIns="0" rIns="0" bIns="0" rtlCol="0" anchor="ctr"/>
          <a:lstStyle/>
          <a:p>
            <a:pPr marL="0" indent="0">
              <a:buNone/>
            </a:pPr>
            <a:r>
              <a:rPr lang="en-US" sz="135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Streamlit Cloud</a:t>
            </a:r>
            <a:endParaRPr lang="en-US" sz="1350" dirty="0"/>
          </a:p>
        </p:txBody>
      </p:sp>
      <p:sp>
        <p:nvSpPr>
          <p:cNvPr id="35" name="Text 33"/>
          <p:cNvSpPr/>
          <p:nvPr/>
        </p:nvSpPr>
        <p:spPr>
          <a:xfrm>
            <a:off x="8988552" y="3776472"/>
            <a:ext cx="2468880" cy="384048"/>
          </a:xfrm>
          <a:prstGeom prst="rect">
            <a:avLst/>
          </a:prstGeom>
          <a:noFill/>
        </p:spPr>
        <p:txBody>
          <a:bodyPr wrap="square" lIns="0" tIns="0" rIns="0" bIns="0" rtlCol="0" anchor="ctr"/>
          <a:lstStyle/>
          <a:p>
            <a:pPr marL="0" indent="0">
              <a:buNone/>
            </a:pPr>
            <a:r>
              <a:rPr lang="en-US" sz="980" i="1" dirty="0">
                <a:solidFill>
                  <a:srgbClr val="E8ECF4"/>
                </a:solidFill>
                <a:latin typeface="Calibri" panose="020F0502020204030204" pitchFamily="34" charset="0"/>
                <a:ea typeface="Calibri" panose="020F0502020204030204" pitchFamily="34" charset="-122"/>
                <a:cs typeface="Calibri" panose="020F0502020204030204" pitchFamily="34" charset="-120"/>
              </a:rPr>
              <a:t>Hosting and public access</a:t>
            </a:r>
            <a:endParaRPr lang="en-US" sz="980" dirty="0"/>
          </a:p>
        </p:txBody>
      </p:sp>
      <p:sp>
        <p:nvSpPr>
          <p:cNvPr id="37" name="Text 34"/>
          <p:cNvSpPr/>
          <p:nvPr/>
        </p:nvSpPr>
        <p:spPr>
          <a:xfrm>
            <a:off x="548640" y="4480560"/>
            <a:ext cx="4572000" cy="292608"/>
          </a:xfrm>
          <a:prstGeom prst="rect">
            <a:avLst/>
          </a:prstGeom>
          <a:noFill/>
        </p:spPr>
        <p:txBody>
          <a:bodyPr wrap="square" lIns="0" tIns="0" rIns="0" bIns="0" rtlCol="0" anchor="ctr"/>
          <a:lstStyle/>
          <a:p>
            <a:pPr marL="0" indent="0">
              <a:buNone/>
            </a:pPr>
            <a:r>
              <a:rPr lang="en-US" sz="1400" b="1" dirty="0">
                <a:solidFill>
                  <a:srgbClr val="FFB627"/>
                </a:solidFill>
                <a:latin typeface="Cambria" panose="02040503050406030204" pitchFamily="34" charset="0"/>
                <a:ea typeface="Cambria" panose="02040503050406030204" pitchFamily="34" charset="-122"/>
                <a:cs typeface="Cambria" panose="02040503050406030204" pitchFamily="34" charset="-120"/>
              </a:rPr>
              <a:t>Core Toolset</a:t>
            </a:r>
            <a:endParaRPr lang="en-US" sz="1400" dirty="0"/>
          </a:p>
        </p:txBody>
      </p:sp>
      <p:sp>
        <p:nvSpPr>
          <p:cNvPr id="38" name="Shape 35"/>
          <p:cNvSpPr/>
          <p:nvPr/>
        </p:nvSpPr>
        <p:spPr>
          <a:xfrm>
            <a:off x="548640" y="4828032"/>
            <a:ext cx="1691640" cy="1417320"/>
          </a:xfrm>
          <a:prstGeom prst="roundRect">
            <a:avLst>
              <a:gd name="adj" fmla="val 5161"/>
            </a:avLst>
          </a:prstGeom>
          <a:solidFill>
            <a:srgbClr val="16213E"/>
          </a:solidFill>
        </p:spPr>
      </p:sp>
      <p:pic>
        <p:nvPicPr>
          <p:cNvPr id="39" name="Image 0" descr="/home/claude/proj2/logos_png/python_teal.png"/>
          <p:cNvPicPr>
            <a:picLocks noChangeAspect="1"/>
          </p:cNvPicPr>
          <p:nvPr/>
        </p:nvPicPr>
        <p:blipFill>
          <a:blip r:embed="rId1"/>
          <a:stretch>
            <a:fillRect/>
          </a:stretch>
        </p:blipFill>
        <p:spPr>
          <a:xfrm>
            <a:off x="1028700" y="5029200"/>
            <a:ext cx="731520" cy="731520"/>
          </a:xfrm>
          <a:prstGeom prst="rect">
            <a:avLst/>
          </a:prstGeom>
        </p:spPr>
      </p:pic>
      <p:sp>
        <p:nvSpPr>
          <p:cNvPr id="40" name="Text 36"/>
          <p:cNvSpPr/>
          <p:nvPr/>
        </p:nvSpPr>
        <p:spPr>
          <a:xfrm>
            <a:off x="548640"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Python</a:t>
            </a:r>
            <a:endParaRPr lang="en-US" sz="1100" dirty="0"/>
          </a:p>
        </p:txBody>
      </p:sp>
      <p:sp>
        <p:nvSpPr>
          <p:cNvPr id="41" name="Shape 37"/>
          <p:cNvSpPr/>
          <p:nvPr/>
        </p:nvSpPr>
        <p:spPr>
          <a:xfrm>
            <a:off x="2428646" y="4828032"/>
            <a:ext cx="1691640" cy="1417320"/>
          </a:xfrm>
          <a:prstGeom prst="roundRect">
            <a:avLst>
              <a:gd name="adj" fmla="val 5161"/>
            </a:avLst>
          </a:prstGeom>
          <a:solidFill>
            <a:srgbClr val="16213E"/>
          </a:solidFill>
        </p:spPr>
      </p:sp>
      <p:pic>
        <p:nvPicPr>
          <p:cNvPr id="42" name="Image 1" descr="/home/claude/proj2/logos_png/pandas_teal.png"/>
          <p:cNvPicPr>
            <a:picLocks noChangeAspect="1"/>
          </p:cNvPicPr>
          <p:nvPr/>
        </p:nvPicPr>
        <p:blipFill>
          <a:blip r:embed="rId2"/>
          <a:stretch>
            <a:fillRect/>
          </a:stretch>
        </p:blipFill>
        <p:spPr>
          <a:xfrm>
            <a:off x="2908706" y="5029200"/>
            <a:ext cx="731520" cy="731520"/>
          </a:xfrm>
          <a:prstGeom prst="rect">
            <a:avLst/>
          </a:prstGeom>
        </p:spPr>
      </p:pic>
      <p:sp>
        <p:nvSpPr>
          <p:cNvPr id="43" name="Text 38"/>
          <p:cNvSpPr/>
          <p:nvPr/>
        </p:nvSpPr>
        <p:spPr>
          <a:xfrm>
            <a:off x="2428646"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Pandas</a:t>
            </a:r>
            <a:endParaRPr lang="en-US" sz="1100" dirty="0"/>
          </a:p>
        </p:txBody>
      </p:sp>
      <p:sp>
        <p:nvSpPr>
          <p:cNvPr id="44" name="Shape 39"/>
          <p:cNvSpPr/>
          <p:nvPr/>
        </p:nvSpPr>
        <p:spPr>
          <a:xfrm>
            <a:off x="4308653" y="4828032"/>
            <a:ext cx="1691640" cy="1417320"/>
          </a:xfrm>
          <a:prstGeom prst="roundRect">
            <a:avLst>
              <a:gd name="adj" fmla="val 5161"/>
            </a:avLst>
          </a:prstGeom>
          <a:solidFill>
            <a:srgbClr val="16213E"/>
          </a:solidFill>
        </p:spPr>
      </p:sp>
      <p:pic>
        <p:nvPicPr>
          <p:cNvPr id="45" name="Image 2" descr="/home/claude/proj2/logos_png/plotly_teal.png"/>
          <p:cNvPicPr>
            <a:picLocks noChangeAspect="1"/>
          </p:cNvPicPr>
          <p:nvPr/>
        </p:nvPicPr>
        <p:blipFill>
          <a:blip r:embed="rId3"/>
          <a:stretch>
            <a:fillRect/>
          </a:stretch>
        </p:blipFill>
        <p:spPr>
          <a:xfrm>
            <a:off x="4788713" y="5029200"/>
            <a:ext cx="731520" cy="731520"/>
          </a:xfrm>
          <a:prstGeom prst="rect">
            <a:avLst/>
          </a:prstGeom>
        </p:spPr>
      </p:pic>
      <p:sp>
        <p:nvSpPr>
          <p:cNvPr id="46" name="Text 40"/>
          <p:cNvSpPr/>
          <p:nvPr/>
        </p:nvSpPr>
        <p:spPr>
          <a:xfrm>
            <a:off x="4308653"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Plotly</a:t>
            </a:r>
            <a:endParaRPr lang="en-US" sz="1100" dirty="0"/>
          </a:p>
        </p:txBody>
      </p:sp>
      <p:sp>
        <p:nvSpPr>
          <p:cNvPr id="47" name="Shape 41"/>
          <p:cNvSpPr/>
          <p:nvPr/>
        </p:nvSpPr>
        <p:spPr>
          <a:xfrm>
            <a:off x="6188659" y="4828032"/>
            <a:ext cx="1691640" cy="1417320"/>
          </a:xfrm>
          <a:prstGeom prst="roundRect">
            <a:avLst>
              <a:gd name="adj" fmla="val 5161"/>
            </a:avLst>
          </a:prstGeom>
          <a:solidFill>
            <a:srgbClr val="16213E"/>
          </a:solidFill>
        </p:spPr>
      </p:sp>
      <p:pic>
        <p:nvPicPr>
          <p:cNvPr id="48" name="Image 3" descr="/home/claude/proj2/logos_png/scikitlearn_teal.png"/>
          <p:cNvPicPr>
            <a:picLocks noChangeAspect="1"/>
          </p:cNvPicPr>
          <p:nvPr/>
        </p:nvPicPr>
        <p:blipFill>
          <a:blip r:embed="rId4"/>
          <a:stretch>
            <a:fillRect/>
          </a:stretch>
        </p:blipFill>
        <p:spPr>
          <a:xfrm>
            <a:off x="6668719" y="5029200"/>
            <a:ext cx="731520" cy="731520"/>
          </a:xfrm>
          <a:prstGeom prst="rect">
            <a:avLst/>
          </a:prstGeom>
        </p:spPr>
      </p:pic>
      <p:sp>
        <p:nvSpPr>
          <p:cNvPr id="49" name="Text 42"/>
          <p:cNvSpPr/>
          <p:nvPr/>
        </p:nvSpPr>
        <p:spPr>
          <a:xfrm>
            <a:off x="6188659"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Scikit-Learn</a:t>
            </a:r>
            <a:endParaRPr lang="en-US" sz="1100" dirty="0"/>
          </a:p>
        </p:txBody>
      </p:sp>
      <p:sp>
        <p:nvSpPr>
          <p:cNvPr id="50" name="Shape 43"/>
          <p:cNvSpPr/>
          <p:nvPr/>
        </p:nvSpPr>
        <p:spPr>
          <a:xfrm>
            <a:off x="8068666" y="4828032"/>
            <a:ext cx="1691640" cy="1417320"/>
          </a:xfrm>
          <a:prstGeom prst="roundRect">
            <a:avLst>
              <a:gd name="adj" fmla="val 5161"/>
            </a:avLst>
          </a:prstGeom>
          <a:solidFill>
            <a:srgbClr val="16213E"/>
          </a:solidFill>
        </p:spPr>
      </p:sp>
      <p:pic>
        <p:nvPicPr>
          <p:cNvPr id="51" name="Image 4" descr="/home/claude/proj2/logos_png/streamlit_teal.png"/>
          <p:cNvPicPr>
            <a:picLocks noChangeAspect="1"/>
          </p:cNvPicPr>
          <p:nvPr/>
        </p:nvPicPr>
        <p:blipFill>
          <a:blip r:embed="rId5"/>
          <a:stretch>
            <a:fillRect/>
          </a:stretch>
        </p:blipFill>
        <p:spPr>
          <a:xfrm>
            <a:off x="8548726" y="5029200"/>
            <a:ext cx="731520" cy="731520"/>
          </a:xfrm>
          <a:prstGeom prst="rect">
            <a:avLst/>
          </a:prstGeom>
        </p:spPr>
      </p:pic>
      <p:sp>
        <p:nvSpPr>
          <p:cNvPr id="52" name="Text 44"/>
          <p:cNvSpPr/>
          <p:nvPr/>
        </p:nvSpPr>
        <p:spPr>
          <a:xfrm>
            <a:off x="8068666"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Streamlit</a:t>
            </a:r>
            <a:endParaRPr lang="en-US" sz="1100" dirty="0"/>
          </a:p>
        </p:txBody>
      </p:sp>
      <p:sp>
        <p:nvSpPr>
          <p:cNvPr id="53" name="Shape 45"/>
          <p:cNvSpPr/>
          <p:nvPr/>
        </p:nvSpPr>
        <p:spPr>
          <a:xfrm>
            <a:off x="9948672" y="4828032"/>
            <a:ext cx="1691640" cy="1417320"/>
          </a:xfrm>
          <a:prstGeom prst="roundRect">
            <a:avLst>
              <a:gd name="adj" fmla="val 5161"/>
            </a:avLst>
          </a:prstGeom>
          <a:solidFill>
            <a:srgbClr val="16213E"/>
          </a:solidFill>
        </p:spPr>
      </p:sp>
      <p:pic>
        <p:nvPicPr>
          <p:cNvPr id="54" name="Image 5" descr="/home/claude/proj2/logos_png/github_teal.png"/>
          <p:cNvPicPr>
            <a:picLocks noChangeAspect="1"/>
          </p:cNvPicPr>
          <p:nvPr/>
        </p:nvPicPr>
        <p:blipFill>
          <a:blip r:embed="rId6"/>
          <a:stretch>
            <a:fillRect/>
          </a:stretch>
        </p:blipFill>
        <p:spPr>
          <a:xfrm>
            <a:off x="10428732" y="5029200"/>
            <a:ext cx="731520" cy="731520"/>
          </a:xfrm>
          <a:prstGeom prst="rect">
            <a:avLst/>
          </a:prstGeom>
        </p:spPr>
      </p:pic>
      <p:sp>
        <p:nvSpPr>
          <p:cNvPr id="55" name="Text 46"/>
          <p:cNvSpPr/>
          <p:nvPr/>
        </p:nvSpPr>
        <p:spPr>
          <a:xfrm>
            <a:off x="9948672" y="5852160"/>
            <a:ext cx="1691640" cy="274320"/>
          </a:xfrm>
          <a:prstGeom prst="rect">
            <a:avLst/>
          </a:prstGeom>
          <a:noFill/>
        </p:spPr>
        <p:txBody>
          <a:bodyPr wrap="square" lIns="0" tIns="0" rIns="0" bIns="0" rtlCol="0" anchor="ctr"/>
          <a:lstStyle/>
          <a:p>
            <a:pPr marL="0" indent="0" algn="ctr">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GitHub</a:t>
            </a:r>
            <a:endParaRPr lang="en-US" sz="1100" dirty="0"/>
          </a:p>
        </p:txBody>
      </p:sp>
      <p:sp>
        <p:nvSpPr>
          <p:cNvPr id="56" name="Text 47"/>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57" name="Text 48"/>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HOW IT ALL CONNECTS</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Project Architecture</a:t>
            </a:r>
            <a:endParaRPr lang="en-US" sz="3000" dirty="0"/>
          </a:p>
        </p:txBody>
      </p:sp>
      <p:sp>
        <p:nvSpPr>
          <p:cNvPr id="4" name="Shape 2"/>
          <p:cNvSpPr/>
          <p:nvPr/>
        </p:nvSpPr>
        <p:spPr>
          <a:xfrm>
            <a:off x="548640" y="1508760"/>
            <a:ext cx="2514600" cy="566928"/>
          </a:xfrm>
          <a:prstGeom prst="roundRect">
            <a:avLst>
              <a:gd name="adj" fmla="val 12903"/>
            </a:avLst>
          </a:prstGeom>
          <a:solidFill>
            <a:srgbClr val="1E2B4D"/>
          </a:solidFill>
        </p:spPr>
      </p:sp>
      <p:sp>
        <p:nvSpPr>
          <p:cNvPr id="5" name="Text 3"/>
          <p:cNvSpPr/>
          <p:nvPr/>
        </p:nvSpPr>
        <p:spPr>
          <a:xfrm>
            <a:off x="548640" y="1508760"/>
            <a:ext cx="2514600" cy="566928"/>
          </a:xfrm>
          <a:prstGeom prst="rect">
            <a:avLst/>
          </a:prstGeom>
          <a:noFill/>
        </p:spPr>
        <p:txBody>
          <a:bodyPr wrap="square" lIns="0" tIns="0" rIns="0" bIns="0" rtlCol="0" anchor="ctr"/>
          <a:lstStyle/>
          <a:p>
            <a:pPr marL="0" indent="0" algn="ctr">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Online Retail Dataset</a:t>
            </a:r>
            <a:endParaRPr lang="en-US" sz="1150" dirty="0"/>
          </a:p>
        </p:txBody>
      </p:sp>
      <p:sp>
        <p:nvSpPr>
          <p:cNvPr id="6" name="Text 4"/>
          <p:cNvSpPr/>
          <p:nvPr/>
        </p:nvSpPr>
        <p:spPr>
          <a:xfrm>
            <a:off x="3063240" y="1508760"/>
            <a:ext cx="256032" cy="566928"/>
          </a:xfrm>
          <a:prstGeom prst="rect">
            <a:avLst/>
          </a:prstGeom>
          <a:noFill/>
        </p:spPr>
        <p:txBody>
          <a:bodyPr wrap="square" lIns="0" tIns="0" rIns="0" bIns="0" rtlCol="0" anchor="ctr"/>
          <a:lstStyle/>
          <a:p>
            <a:pPr marL="0" indent="0" algn="ctr">
              <a:buNone/>
            </a:pPr>
            <a:r>
              <a:rPr lang="en-US" sz="16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7" name="Shape 5"/>
          <p:cNvSpPr/>
          <p:nvPr/>
        </p:nvSpPr>
        <p:spPr>
          <a:xfrm>
            <a:off x="3319272" y="1508760"/>
            <a:ext cx="2514600" cy="566928"/>
          </a:xfrm>
          <a:prstGeom prst="roundRect">
            <a:avLst>
              <a:gd name="adj" fmla="val 12903"/>
            </a:avLst>
          </a:prstGeom>
          <a:solidFill>
            <a:srgbClr val="1E2B4D"/>
          </a:solidFill>
        </p:spPr>
      </p:sp>
      <p:sp>
        <p:nvSpPr>
          <p:cNvPr id="8" name="Text 6"/>
          <p:cNvSpPr/>
          <p:nvPr/>
        </p:nvSpPr>
        <p:spPr>
          <a:xfrm>
            <a:off x="3319272" y="1508760"/>
            <a:ext cx="2514600" cy="566928"/>
          </a:xfrm>
          <a:prstGeom prst="rect">
            <a:avLst/>
          </a:prstGeom>
          <a:noFill/>
        </p:spPr>
        <p:txBody>
          <a:bodyPr wrap="square" lIns="0" tIns="0" rIns="0" bIns="0" rtlCol="0" anchor="ctr"/>
          <a:lstStyle/>
          <a:p>
            <a:pPr marL="0" indent="0" algn="ctr">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Data Cleaning</a:t>
            </a:r>
            <a:endParaRPr lang="en-US" sz="1150" dirty="0"/>
          </a:p>
        </p:txBody>
      </p:sp>
      <p:sp>
        <p:nvSpPr>
          <p:cNvPr id="9" name="Text 7"/>
          <p:cNvSpPr/>
          <p:nvPr/>
        </p:nvSpPr>
        <p:spPr>
          <a:xfrm>
            <a:off x="5833872" y="1508760"/>
            <a:ext cx="256032" cy="566928"/>
          </a:xfrm>
          <a:prstGeom prst="rect">
            <a:avLst/>
          </a:prstGeom>
          <a:noFill/>
        </p:spPr>
        <p:txBody>
          <a:bodyPr wrap="square" lIns="0" tIns="0" rIns="0" bIns="0" rtlCol="0" anchor="ctr"/>
          <a:lstStyle/>
          <a:p>
            <a:pPr marL="0" indent="0" algn="ctr">
              <a:buNone/>
            </a:pPr>
            <a:r>
              <a:rPr lang="en-US" sz="16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0" name="Shape 8"/>
          <p:cNvSpPr/>
          <p:nvPr/>
        </p:nvSpPr>
        <p:spPr>
          <a:xfrm>
            <a:off x="6089904" y="1508760"/>
            <a:ext cx="2514600" cy="566928"/>
          </a:xfrm>
          <a:prstGeom prst="roundRect">
            <a:avLst>
              <a:gd name="adj" fmla="val 12903"/>
            </a:avLst>
          </a:prstGeom>
          <a:solidFill>
            <a:srgbClr val="1E2B4D"/>
          </a:solidFill>
        </p:spPr>
      </p:sp>
      <p:sp>
        <p:nvSpPr>
          <p:cNvPr id="11" name="Text 9"/>
          <p:cNvSpPr/>
          <p:nvPr/>
        </p:nvSpPr>
        <p:spPr>
          <a:xfrm>
            <a:off x="6089904" y="1508760"/>
            <a:ext cx="2514600" cy="566928"/>
          </a:xfrm>
          <a:prstGeom prst="rect">
            <a:avLst/>
          </a:prstGeom>
          <a:noFill/>
        </p:spPr>
        <p:txBody>
          <a:bodyPr wrap="square" lIns="0" tIns="0" rIns="0" bIns="0" rtlCol="0" anchor="ctr"/>
          <a:lstStyle/>
          <a:p>
            <a:pPr marL="0" indent="0" algn="ctr">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Exploratory Data Analysis</a:t>
            </a:r>
            <a:endParaRPr lang="en-US" sz="1150" dirty="0"/>
          </a:p>
        </p:txBody>
      </p:sp>
      <p:sp>
        <p:nvSpPr>
          <p:cNvPr id="12" name="Text 10"/>
          <p:cNvSpPr/>
          <p:nvPr/>
        </p:nvSpPr>
        <p:spPr>
          <a:xfrm>
            <a:off x="8604504" y="1508760"/>
            <a:ext cx="256032" cy="566928"/>
          </a:xfrm>
          <a:prstGeom prst="rect">
            <a:avLst/>
          </a:prstGeom>
          <a:noFill/>
        </p:spPr>
        <p:txBody>
          <a:bodyPr wrap="square" lIns="0" tIns="0" rIns="0" bIns="0" rtlCol="0" anchor="ctr"/>
          <a:lstStyle/>
          <a:p>
            <a:pPr marL="0" indent="0" algn="ctr">
              <a:buNone/>
            </a:pPr>
            <a:r>
              <a:rPr lang="en-US" sz="16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3" name="Shape 11"/>
          <p:cNvSpPr/>
          <p:nvPr/>
        </p:nvSpPr>
        <p:spPr>
          <a:xfrm>
            <a:off x="8860536" y="1508760"/>
            <a:ext cx="2514600" cy="566928"/>
          </a:xfrm>
          <a:prstGeom prst="roundRect">
            <a:avLst>
              <a:gd name="adj" fmla="val 12903"/>
            </a:avLst>
          </a:prstGeom>
          <a:solidFill>
            <a:srgbClr val="1E2B4D"/>
          </a:solidFill>
        </p:spPr>
      </p:sp>
      <p:sp>
        <p:nvSpPr>
          <p:cNvPr id="14" name="Text 12"/>
          <p:cNvSpPr/>
          <p:nvPr/>
        </p:nvSpPr>
        <p:spPr>
          <a:xfrm>
            <a:off x="8860536" y="1508760"/>
            <a:ext cx="2514600" cy="566928"/>
          </a:xfrm>
          <a:prstGeom prst="rect">
            <a:avLst/>
          </a:prstGeom>
          <a:noFill/>
        </p:spPr>
        <p:txBody>
          <a:bodyPr wrap="square" lIns="0" tIns="0" rIns="0" bIns="0" rtlCol="0" anchor="ctr"/>
          <a:lstStyle/>
          <a:p>
            <a:pPr marL="0" indent="0" algn="ctr">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150" dirty="0"/>
          </a:p>
        </p:txBody>
      </p:sp>
      <p:sp>
        <p:nvSpPr>
          <p:cNvPr id="15" name="Text 13"/>
          <p:cNvSpPr/>
          <p:nvPr/>
        </p:nvSpPr>
        <p:spPr>
          <a:xfrm>
            <a:off x="9889236" y="2075688"/>
            <a:ext cx="457200" cy="256032"/>
          </a:xfrm>
          <a:prstGeom prst="rect">
            <a:avLst/>
          </a:prstGeom>
          <a:noFill/>
        </p:spPr>
        <p:txBody>
          <a:bodyPr wrap="square" lIns="0" tIns="0" rIns="0" bIns="0" rtlCol="0" anchor="ctr"/>
          <a:lstStyle/>
          <a:p>
            <a:pPr marL="0" indent="0" algn="ctr">
              <a:buNone/>
            </a:pPr>
            <a:r>
              <a:rPr lang="en-US" sz="14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6" name="Shape 14"/>
          <p:cNvSpPr/>
          <p:nvPr/>
        </p:nvSpPr>
        <p:spPr>
          <a:xfrm>
            <a:off x="4160520" y="2606040"/>
            <a:ext cx="3840480" cy="502920"/>
          </a:xfrm>
          <a:prstGeom prst="roundRect">
            <a:avLst>
              <a:gd name="adj" fmla="val 14545"/>
            </a:avLst>
          </a:prstGeom>
          <a:solidFill>
            <a:srgbClr val="5BC0BE"/>
          </a:solidFill>
        </p:spPr>
      </p:sp>
      <p:sp>
        <p:nvSpPr>
          <p:cNvPr id="17" name="Text 15"/>
          <p:cNvSpPr/>
          <p:nvPr/>
        </p:nvSpPr>
        <p:spPr>
          <a:xfrm>
            <a:off x="4160520" y="2606040"/>
            <a:ext cx="3840480" cy="502920"/>
          </a:xfrm>
          <a:prstGeom prst="rect">
            <a:avLst/>
          </a:prstGeom>
          <a:noFill/>
        </p:spPr>
        <p:txBody>
          <a:bodyPr wrap="square" lIns="0" tIns="0" rIns="0" bIns="0" rtlCol="0" anchor="ctr"/>
          <a:lstStyle/>
          <a:p>
            <a:pPr marL="0" indent="0" algn="ctr">
              <a:buNone/>
            </a:pPr>
            <a:r>
              <a:rPr lang="en-US" sz="1400" b="1" dirty="0">
                <a:solidFill>
                  <a:srgbClr val="0B132B"/>
                </a:solidFill>
                <a:latin typeface="Cambria" panose="02040503050406030204" pitchFamily="34" charset="0"/>
                <a:ea typeface="Cambria" panose="02040503050406030204" pitchFamily="34" charset="-122"/>
                <a:cs typeface="Cambria" panose="02040503050406030204" pitchFamily="34" charset="-120"/>
              </a:rPr>
              <a:t>Machine Learning</a:t>
            </a:r>
            <a:endParaRPr lang="en-US" sz="1400" dirty="0"/>
          </a:p>
        </p:txBody>
      </p:sp>
      <p:sp>
        <p:nvSpPr>
          <p:cNvPr id="18" name="Text 16"/>
          <p:cNvSpPr/>
          <p:nvPr/>
        </p:nvSpPr>
        <p:spPr>
          <a:xfrm>
            <a:off x="5867248" y="3108960"/>
            <a:ext cx="457200" cy="256032"/>
          </a:xfrm>
          <a:prstGeom prst="rect">
            <a:avLst/>
          </a:prstGeom>
          <a:noFill/>
        </p:spPr>
        <p:txBody>
          <a:bodyPr wrap="square" lIns="0" tIns="0" rIns="0" bIns="0" rtlCol="0" anchor="ctr"/>
          <a:lstStyle/>
          <a:p>
            <a:pPr marL="0" indent="0" algn="ctr">
              <a:buNone/>
            </a:pPr>
            <a:r>
              <a:rPr lang="en-US" sz="14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9" name="Shape 17"/>
          <p:cNvSpPr/>
          <p:nvPr/>
        </p:nvSpPr>
        <p:spPr>
          <a:xfrm>
            <a:off x="952348" y="3401568"/>
            <a:ext cx="3246120" cy="548640"/>
          </a:xfrm>
          <a:prstGeom prst="roundRect">
            <a:avLst>
              <a:gd name="adj" fmla="val 13333"/>
            </a:avLst>
          </a:prstGeom>
          <a:solidFill>
            <a:srgbClr val="16213E"/>
          </a:solidFill>
        </p:spPr>
      </p:sp>
      <p:sp>
        <p:nvSpPr>
          <p:cNvPr id="20" name="Text 18"/>
          <p:cNvSpPr/>
          <p:nvPr/>
        </p:nvSpPr>
        <p:spPr>
          <a:xfrm>
            <a:off x="952348" y="3401568"/>
            <a:ext cx="3246120" cy="548640"/>
          </a:xfrm>
          <a:prstGeom prst="rect">
            <a:avLst/>
          </a:prstGeom>
          <a:noFill/>
        </p:spPr>
        <p:txBody>
          <a:bodyPr wrap="square" lIns="0" tIns="0" rIns="0" bIns="0" rtlCol="0" anchor="ctr"/>
          <a:lstStyle/>
          <a:p>
            <a:pPr marL="0" indent="0" algn="ctr">
              <a:buNone/>
            </a:pPr>
            <a:r>
              <a:rPr lang="en-US" sz="1250" dirty="0">
                <a:solidFill>
                  <a:srgbClr val="E8ECF4"/>
                </a:solidFill>
                <a:latin typeface="Calibri" panose="020F0502020204030204" pitchFamily="34" charset="0"/>
                <a:ea typeface="Calibri" panose="020F0502020204030204" pitchFamily="34" charset="-122"/>
                <a:cs typeface="Calibri" panose="020F0502020204030204" pitchFamily="34" charset="-120"/>
              </a:rPr>
              <a:t>RFM Segmentation</a:t>
            </a:r>
            <a:endParaRPr lang="en-US" sz="1250" dirty="0"/>
          </a:p>
        </p:txBody>
      </p:sp>
      <p:sp>
        <p:nvSpPr>
          <p:cNvPr id="21" name="Shape 19"/>
          <p:cNvSpPr/>
          <p:nvPr/>
        </p:nvSpPr>
        <p:spPr>
          <a:xfrm>
            <a:off x="4472788" y="3401568"/>
            <a:ext cx="3246120" cy="548640"/>
          </a:xfrm>
          <a:prstGeom prst="roundRect">
            <a:avLst>
              <a:gd name="adj" fmla="val 13333"/>
            </a:avLst>
          </a:prstGeom>
          <a:solidFill>
            <a:srgbClr val="16213E"/>
          </a:solidFill>
        </p:spPr>
      </p:sp>
      <p:sp>
        <p:nvSpPr>
          <p:cNvPr id="22" name="Text 20"/>
          <p:cNvSpPr/>
          <p:nvPr/>
        </p:nvSpPr>
        <p:spPr>
          <a:xfrm>
            <a:off x="4472788" y="3401568"/>
            <a:ext cx="3246120" cy="548640"/>
          </a:xfrm>
          <a:prstGeom prst="rect">
            <a:avLst/>
          </a:prstGeom>
          <a:noFill/>
        </p:spPr>
        <p:txBody>
          <a:bodyPr wrap="square" lIns="0" tIns="0" rIns="0" bIns="0" rtlCol="0" anchor="ctr"/>
          <a:lstStyle/>
          <a:p>
            <a:pPr marL="0" indent="0" algn="ctr">
              <a:buNone/>
            </a:pPr>
            <a:r>
              <a:rPr lang="en-US" sz="1250" dirty="0">
                <a:solidFill>
                  <a:srgbClr val="E8ECF4"/>
                </a:solidFill>
                <a:latin typeface="Calibri" panose="020F0502020204030204" pitchFamily="34" charset="0"/>
                <a:ea typeface="Calibri" panose="020F0502020204030204" pitchFamily="34" charset="-122"/>
                <a:cs typeface="Calibri" panose="020F0502020204030204" pitchFamily="34" charset="-120"/>
              </a:rPr>
              <a:t>Churn Prediction</a:t>
            </a:r>
            <a:endParaRPr lang="en-US" sz="1250" dirty="0"/>
          </a:p>
        </p:txBody>
      </p:sp>
      <p:sp>
        <p:nvSpPr>
          <p:cNvPr id="23" name="Shape 21"/>
          <p:cNvSpPr/>
          <p:nvPr/>
        </p:nvSpPr>
        <p:spPr>
          <a:xfrm>
            <a:off x="7993228" y="3401568"/>
            <a:ext cx="3246120" cy="548640"/>
          </a:xfrm>
          <a:prstGeom prst="roundRect">
            <a:avLst>
              <a:gd name="adj" fmla="val 13333"/>
            </a:avLst>
          </a:prstGeom>
          <a:solidFill>
            <a:srgbClr val="16213E"/>
          </a:solidFill>
        </p:spPr>
      </p:sp>
      <p:sp>
        <p:nvSpPr>
          <p:cNvPr id="24" name="Text 22"/>
          <p:cNvSpPr/>
          <p:nvPr/>
        </p:nvSpPr>
        <p:spPr>
          <a:xfrm>
            <a:off x="7993228" y="3401568"/>
            <a:ext cx="3246120" cy="548640"/>
          </a:xfrm>
          <a:prstGeom prst="rect">
            <a:avLst/>
          </a:prstGeom>
          <a:noFill/>
        </p:spPr>
        <p:txBody>
          <a:bodyPr wrap="square" lIns="0" tIns="0" rIns="0" bIns="0" rtlCol="0" anchor="ctr"/>
          <a:lstStyle/>
          <a:p>
            <a:pPr marL="0" indent="0" algn="ctr">
              <a:buNone/>
            </a:pPr>
            <a:r>
              <a:rPr lang="en-US" sz="1250" dirty="0">
                <a:solidFill>
                  <a:srgbClr val="E8ECF4"/>
                </a:solidFill>
                <a:latin typeface="Calibri" panose="020F0502020204030204" pitchFamily="34" charset="0"/>
                <a:ea typeface="Calibri" panose="020F0502020204030204" pitchFamily="34" charset="-122"/>
                <a:cs typeface="Calibri" panose="020F0502020204030204" pitchFamily="34" charset="-120"/>
              </a:rPr>
              <a:t>Revenue Forecasting</a:t>
            </a:r>
            <a:endParaRPr lang="en-US" sz="1250" dirty="0"/>
          </a:p>
        </p:txBody>
      </p:sp>
      <p:sp>
        <p:nvSpPr>
          <p:cNvPr id="25" name="Text 23"/>
          <p:cNvSpPr/>
          <p:nvPr/>
        </p:nvSpPr>
        <p:spPr>
          <a:xfrm>
            <a:off x="5867248" y="4041648"/>
            <a:ext cx="457200" cy="256032"/>
          </a:xfrm>
          <a:prstGeom prst="rect">
            <a:avLst/>
          </a:prstGeom>
          <a:noFill/>
        </p:spPr>
        <p:txBody>
          <a:bodyPr wrap="square" lIns="0" tIns="0" rIns="0" bIns="0" rtlCol="0" anchor="ctr"/>
          <a:lstStyle/>
          <a:p>
            <a:pPr marL="0" indent="0" algn="ctr">
              <a:buNone/>
            </a:pPr>
            <a:r>
              <a:rPr lang="en-US" sz="14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6" name="Shape 24"/>
          <p:cNvSpPr/>
          <p:nvPr/>
        </p:nvSpPr>
        <p:spPr>
          <a:xfrm>
            <a:off x="4175608" y="4370832"/>
            <a:ext cx="3840480" cy="502920"/>
          </a:xfrm>
          <a:prstGeom prst="roundRect">
            <a:avLst>
              <a:gd name="adj" fmla="val 14545"/>
            </a:avLst>
          </a:prstGeom>
          <a:solidFill>
            <a:srgbClr val="1E2B4D"/>
          </a:solidFill>
        </p:spPr>
      </p:sp>
      <p:sp>
        <p:nvSpPr>
          <p:cNvPr id="27" name="Text 25"/>
          <p:cNvSpPr/>
          <p:nvPr/>
        </p:nvSpPr>
        <p:spPr>
          <a:xfrm>
            <a:off x="4175608" y="4370832"/>
            <a:ext cx="3840480" cy="502920"/>
          </a:xfrm>
          <a:prstGeom prst="rect">
            <a:avLst/>
          </a:prstGeom>
          <a:noFill/>
        </p:spPr>
        <p:txBody>
          <a:bodyPr wrap="square" lIns="0" tIns="0" rIns="0" bIns="0" rtlCol="0" anchor="ctr"/>
          <a:lstStyle/>
          <a:p>
            <a:pPr marL="0" indent="0" algn="ctr">
              <a:buNone/>
            </a:pPr>
            <a:r>
              <a:rPr lang="en-US" sz="1300" dirty="0">
                <a:solidFill>
                  <a:srgbClr val="E8ECF4"/>
                </a:solidFill>
                <a:latin typeface="Calibri" panose="020F0502020204030204" pitchFamily="34" charset="0"/>
                <a:ea typeface="Calibri" panose="020F0502020204030204" pitchFamily="34" charset="-122"/>
                <a:cs typeface="Calibri" panose="020F0502020204030204" pitchFamily="34" charset="-120"/>
              </a:rPr>
              <a:t>Dashboard Dataset</a:t>
            </a:r>
            <a:endParaRPr lang="en-US" sz="1300" dirty="0"/>
          </a:p>
        </p:txBody>
      </p:sp>
      <p:sp>
        <p:nvSpPr>
          <p:cNvPr id="28" name="Text 26"/>
          <p:cNvSpPr/>
          <p:nvPr/>
        </p:nvSpPr>
        <p:spPr>
          <a:xfrm>
            <a:off x="5867248" y="4873752"/>
            <a:ext cx="457200" cy="256032"/>
          </a:xfrm>
          <a:prstGeom prst="rect">
            <a:avLst/>
          </a:prstGeom>
          <a:noFill/>
        </p:spPr>
        <p:txBody>
          <a:bodyPr wrap="square" lIns="0" tIns="0" rIns="0" bIns="0" rtlCol="0" anchor="ctr"/>
          <a:lstStyle/>
          <a:p>
            <a:pPr marL="0" indent="0" algn="ctr">
              <a:buNone/>
            </a:pPr>
            <a:r>
              <a:rPr lang="en-US" sz="14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9" name="Shape 27"/>
          <p:cNvSpPr/>
          <p:nvPr/>
        </p:nvSpPr>
        <p:spPr>
          <a:xfrm>
            <a:off x="3718408" y="5193792"/>
            <a:ext cx="4754880" cy="548640"/>
          </a:xfrm>
          <a:prstGeom prst="roundRect">
            <a:avLst>
              <a:gd name="adj" fmla="val 13333"/>
            </a:avLst>
          </a:prstGeom>
          <a:solidFill>
            <a:srgbClr val="FFB627"/>
          </a:solidFill>
        </p:spPr>
      </p:sp>
      <p:sp>
        <p:nvSpPr>
          <p:cNvPr id="30" name="Text 28"/>
          <p:cNvSpPr/>
          <p:nvPr/>
        </p:nvSpPr>
        <p:spPr>
          <a:xfrm>
            <a:off x="3718408" y="5193792"/>
            <a:ext cx="4754880" cy="548640"/>
          </a:xfrm>
          <a:prstGeom prst="rect">
            <a:avLst/>
          </a:prstGeom>
          <a:noFill/>
        </p:spPr>
        <p:txBody>
          <a:bodyPr wrap="square" lIns="0" tIns="0" rIns="0" bIns="0" rtlCol="0" anchor="ctr"/>
          <a:lstStyle/>
          <a:p>
            <a:pPr marL="0" indent="0" algn="ctr">
              <a:buNone/>
            </a:pPr>
            <a:r>
              <a:rPr lang="en-US" sz="1500" b="1" dirty="0">
                <a:solidFill>
                  <a:srgbClr val="0B132B"/>
                </a:solidFill>
                <a:latin typeface="Cambria" panose="02040503050406030204" pitchFamily="34" charset="0"/>
                <a:ea typeface="Cambria" panose="02040503050406030204" pitchFamily="34" charset="-122"/>
                <a:cs typeface="Cambria" panose="02040503050406030204" pitchFamily="34" charset="-120"/>
              </a:rPr>
              <a:t>Streamlit Analytics Platform</a:t>
            </a:r>
            <a:endParaRPr lang="en-US" sz="1500" dirty="0"/>
          </a:p>
        </p:txBody>
      </p:sp>
      <p:sp>
        <p:nvSpPr>
          <p:cNvPr id="31" name="Text 29"/>
          <p:cNvSpPr/>
          <p:nvPr/>
        </p:nvSpPr>
        <p:spPr>
          <a:xfrm>
            <a:off x="548640" y="5989320"/>
            <a:ext cx="3566160" cy="274320"/>
          </a:xfrm>
          <a:prstGeom prst="rect">
            <a:avLst/>
          </a:prstGeom>
          <a:noFill/>
        </p:spPr>
        <p:txBody>
          <a:bodyPr wrap="square" lIns="0" tIns="0" rIns="0" bIns="0" rtlCol="0" anchor="ctr"/>
          <a:lstStyle/>
          <a:p>
            <a:pPr marL="0" indent="0">
              <a:buNone/>
            </a:pPr>
            <a:r>
              <a:rPr lang="en-US" sz="1050" dirty="0">
                <a:solidFill>
                  <a:srgbClr val="8D9AB8"/>
                </a:solidFill>
                <a:latin typeface="Calibri" panose="020F0502020204030204" pitchFamily="34" charset="0"/>
                <a:ea typeface="Calibri" panose="020F0502020204030204" pitchFamily="34" charset="-122"/>
                <a:cs typeface="Calibri" panose="020F0502020204030204" pitchFamily="34" charset="-120"/>
              </a:rPr>
              <a:t>●  Clean analytical dataset</a:t>
            </a:r>
            <a:endParaRPr lang="en-US" sz="1050" dirty="0"/>
          </a:p>
        </p:txBody>
      </p:sp>
      <p:sp>
        <p:nvSpPr>
          <p:cNvPr id="32" name="Text 30"/>
          <p:cNvSpPr/>
          <p:nvPr/>
        </p:nvSpPr>
        <p:spPr>
          <a:xfrm>
            <a:off x="4279392" y="5989320"/>
            <a:ext cx="3566160" cy="274320"/>
          </a:xfrm>
          <a:prstGeom prst="rect">
            <a:avLst/>
          </a:prstGeom>
          <a:noFill/>
        </p:spPr>
        <p:txBody>
          <a:bodyPr wrap="square" lIns="0" tIns="0" rIns="0" bIns="0" rtlCol="0" anchor="ctr"/>
          <a:lstStyle/>
          <a:p>
            <a:pPr marL="0" indent="0">
              <a:buNone/>
            </a:pPr>
            <a:r>
              <a:rPr lang="en-US" sz="1050" dirty="0">
                <a:solidFill>
                  <a:srgbClr val="8D9AB8"/>
                </a:solidFill>
                <a:latin typeface="Calibri" panose="020F0502020204030204" pitchFamily="34" charset="0"/>
                <a:ea typeface="Calibri" panose="020F0502020204030204" pitchFamily="34" charset="-122"/>
                <a:cs typeface="Calibri" panose="020F0502020204030204" pitchFamily="34" charset="-120"/>
              </a:rPr>
              <a:t>●  Predictive insights</a:t>
            </a:r>
            <a:endParaRPr lang="en-US" sz="1050" dirty="0"/>
          </a:p>
        </p:txBody>
      </p:sp>
      <p:sp>
        <p:nvSpPr>
          <p:cNvPr id="33" name="Text 31"/>
          <p:cNvSpPr/>
          <p:nvPr/>
        </p:nvSpPr>
        <p:spPr>
          <a:xfrm>
            <a:off x="8010144" y="5989320"/>
            <a:ext cx="3566160" cy="274320"/>
          </a:xfrm>
          <a:prstGeom prst="rect">
            <a:avLst/>
          </a:prstGeom>
          <a:noFill/>
        </p:spPr>
        <p:txBody>
          <a:bodyPr wrap="square" lIns="0" tIns="0" rIns="0" bIns="0" rtlCol="0" anchor="ctr"/>
          <a:lstStyle/>
          <a:p>
            <a:pPr marL="0" indent="0">
              <a:buNone/>
            </a:pPr>
            <a:r>
              <a:rPr lang="en-US" sz="1050" dirty="0">
                <a:solidFill>
                  <a:srgbClr val="8D9AB8"/>
                </a:solidFill>
                <a:latin typeface="Calibri" panose="020F0502020204030204" pitchFamily="34" charset="0"/>
                <a:ea typeface="Calibri" panose="020F0502020204030204" pitchFamily="34" charset="-122"/>
                <a:cs typeface="Calibri" panose="020F0502020204030204" pitchFamily="34" charset="-120"/>
              </a:rPr>
              <a:t>●  Interactive business dashboards</a:t>
            </a:r>
            <a:endParaRPr lang="en-US" sz="1050" dirty="0"/>
          </a:p>
        </p:txBody>
      </p:sp>
      <p:sp>
        <p:nvSpPr>
          <p:cNvPr id="35" name="Text 32"/>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36" name="Text 33"/>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DASHBOARD 01</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Executive Dashboard</a:t>
            </a:r>
            <a:endParaRPr lang="en-US" sz="3000" dirty="0"/>
          </a:p>
        </p:txBody>
      </p:sp>
      <p:sp>
        <p:nvSpPr>
          <p:cNvPr id="4" name="Shape 2"/>
          <p:cNvSpPr/>
          <p:nvPr/>
        </p:nvSpPr>
        <p:spPr>
          <a:xfrm>
            <a:off x="493776" y="1453896"/>
            <a:ext cx="6967728" cy="2951512"/>
          </a:xfrm>
          <a:prstGeom prst="roundRect">
            <a:avLst>
              <a:gd name="adj" fmla="val 1859"/>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5" name="Image 0" descr="/home/claude/proj2/images/executive_dashboard.jpg"/>
          <p:cNvPicPr>
            <a:picLocks noChangeAspect="1"/>
          </p:cNvPicPr>
          <p:nvPr/>
        </p:nvPicPr>
        <p:blipFill>
          <a:blip r:embed="rId1"/>
          <a:srcRect/>
          <a:stretch>
            <a:fillRect/>
          </a:stretch>
        </p:blipFill>
        <p:spPr>
          <a:xfrm>
            <a:off x="548640" y="1508760"/>
            <a:ext cx="6858000" cy="2841784"/>
          </a:xfrm>
          <a:prstGeom prst="rect">
            <a:avLst/>
          </a:prstGeom>
        </p:spPr>
      </p:pic>
      <p:sp>
        <p:nvSpPr>
          <p:cNvPr id="6" name="Text 3"/>
          <p:cNvSpPr/>
          <p:nvPr/>
        </p:nvSpPr>
        <p:spPr>
          <a:xfrm>
            <a:off x="7818120" y="1508760"/>
            <a:ext cx="3840480" cy="274320"/>
          </a:xfrm>
          <a:prstGeom prst="rect">
            <a:avLst/>
          </a:prstGeom>
          <a:noFill/>
        </p:spPr>
        <p:txBody>
          <a:bodyPr wrap="square" lIns="0" tIns="0" rIns="0" bIns="0" rtlCol="0" anchor="ctr"/>
          <a:lstStyle/>
          <a:p>
            <a:pPr marL="0" indent="0">
              <a:buNone/>
            </a:pPr>
            <a:r>
              <a:rPr lang="en-US" sz="1400" b="1" dirty="0">
                <a:solidFill>
                  <a:srgbClr val="5BC0BE"/>
                </a:solidFill>
                <a:latin typeface="Cambria" panose="02040503050406030204" pitchFamily="34" charset="0"/>
                <a:ea typeface="Cambria" panose="02040503050406030204" pitchFamily="34" charset="-122"/>
                <a:cs typeface="Cambria" panose="02040503050406030204" pitchFamily="34" charset="-120"/>
              </a:rPr>
              <a:t>Dashboard Features</a:t>
            </a:r>
            <a:endParaRPr lang="en-US" sz="1400" dirty="0"/>
          </a:p>
        </p:txBody>
      </p:sp>
      <p:sp>
        <p:nvSpPr>
          <p:cNvPr id="7" name="Text 4"/>
          <p:cNvSpPr/>
          <p:nvPr/>
        </p:nvSpPr>
        <p:spPr>
          <a:xfrm>
            <a:off x="7818120" y="1828800"/>
            <a:ext cx="3840480" cy="1828800"/>
          </a:xfrm>
          <a:prstGeom prst="rect">
            <a:avLst/>
          </a:prstGeom>
          <a:noFill/>
        </p:spPr>
        <p:txBody>
          <a:bodyPr wrap="square" lIns="0" tIns="0" rIns="0" bIns="0" rtlCol="0" anchor="t"/>
          <a:lstStyle/>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Total Revenue</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Total Orders</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Total Customers</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Average Order Value</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Revenue Trend</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Country-wise Performance</a:t>
            </a:r>
            <a:endParaRPr lang="en-US" sz="1150" dirty="0"/>
          </a:p>
        </p:txBody>
      </p:sp>
      <p:sp>
        <p:nvSpPr>
          <p:cNvPr id="8" name="Shape 5"/>
          <p:cNvSpPr/>
          <p:nvPr/>
        </p:nvSpPr>
        <p:spPr>
          <a:xfrm>
            <a:off x="548640" y="4617720"/>
            <a:ext cx="6858000" cy="1508760"/>
          </a:xfrm>
          <a:prstGeom prst="roundRect">
            <a:avLst>
              <a:gd name="adj" fmla="val 4848"/>
            </a:avLst>
          </a:prstGeom>
          <a:solidFill>
            <a:srgbClr val="1E2B4D"/>
          </a:solidFill>
          <a:effectLst>
            <a:outerShdw blurRad="127000" dist="38100" dir="5400000" algn="bl" rotWithShape="0">
              <a:srgbClr val="000000">
                <a:alpha val="35000"/>
              </a:srgbClr>
            </a:outerShdw>
          </a:effectLst>
        </p:spPr>
      </p:sp>
      <p:sp>
        <p:nvSpPr>
          <p:cNvPr id="9" name="Text 6"/>
          <p:cNvSpPr/>
          <p:nvPr/>
        </p:nvSpPr>
        <p:spPr>
          <a:xfrm>
            <a:off x="777240" y="4754880"/>
            <a:ext cx="3657600" cy="274320"/>
          </a:xfrm>
          <a:prstGeom prst="rect">
            <a:avLst/>
          </a:prstGeom>
          <a:noFill/>
        </p:spPr>
        <p:txBody>
          <a:bodyPr wrap="square" lIns="0" tIns="0" rIns="0" bIns="0" rtlCol="0" anchor="ctr"/>
          <a:lstStyle/>
          <a:p>
            <a:pPr marL="0" indent="0">
              <a:buNone/>
            </a:pPr>
            <a:r>
              <a:rPr lang="en-US" sz="1300" b="1" dirty="0">
                <a:solidFill>
                  <a:srgbClr val="FFB627"/>
                </a:solidFill>
                <a:latin typeface="Cambria" panose="02040503050406030204" pitchFamily="34" charset="0"/>
                <a:ea typeface="Cambria" panose="02040503050406030204" pitchFamily="34" charset="-122"/>
                <a:cs typeface="Cambria" panose="02040503050406030204" pitchFamily="34" charset="-120"/>
              </a:rPr>
              <a:t>Business Value</a:t>
            </a:r>
            <a:endParaRPr lang="en-US" sz="1300" dirty="0"/>
          </a:p>
        </p:txBody>
      </p:sp>
      <p:sp>
        <p:nvSpPr>
          <p:cNvPr id="10" name="Text 7"/>
          <p:cNvSpPr/>
          <p:nvPr/>
        </p:nvSpPr>
        <p:spPr>
          <a:xfrm>
            <a:off x="777240" y="5074920"/>
            <a:ext cx="6309360" cy="1005840"/>
          </a:xfrm>
          <a:prstGeom prst="rect">
            <a:avLst/>
          </a:prstGeom>
          <a:noFill/>
        </p:spPr>
        <p:txBody>
          <a:bodyPr wrap="square" lIns="0" tIns="0" rIns="0" bIns="0" rtlCol="0" anchor="t"/>
          <a:lstStyle/>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Quick overview of business performance</a:t>
            </a:r>
            <a:endParaRPr lang="en-US" sz="1100" dirty="0"/>
          </a:p>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Helps management monitor KPIs from a single dashboard</a:t>
            </a:r>
            <a:endParaRPr lang="en-US" sz="1100" dirty="0"/>
          </a:p>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Enables faster data-driven decision-making</a:t>
            </a:r>
            <a:endParaRPr lang="en-US" sz="1100" dirty="0"/>
          </a:p>
        </p:txBody>
      </p:sp>
      <p:sp>
        <p:nvSpPr>
          <p:cNvPr id="11" name="Shape 8"/>
          <p:cNvSpPr/>
          <p:nvPr/>
        </p:nvSpPr>
        <p:spPr>
          <a:xfrm>
            <a:off x="7818120" y="4617720"/>
            <a:ext cx="3840480" cy="1508760"/>
          </a:xfrm>
          <a:prstGeom prst="roundRect">
            <a:avLst>
              <a:gd name="adj" fmla="val 4848"/>
            </a:avLst>
          </a:prstGeom>
          <a:solidFill>
            <a:srgbClr val="16213E"/>
          </a:solidFill>
          <a:effectLst>
            <a:outerShdw blurRad="127000" dist="38100" dir="5400000" algn="bl" rotWithShape="0">
              <a:srgbClr val="000000">
                <a:alpha val="35000"/>
              </a:srgbClr>
            </a:outerShdw>
          </a:effectLst>
        </p:spPr>
      </p:sp>
      <p:sp>
        <p:nvSpPr>
          <p:cNvPr id="12" name="Text 9"/>
          <p:cNvSpPr/>
          <p:nvPr/>
        </p:nvSpPr>
        <p:spPr>
          <a:xfrm>
            <a:off x="8046720" y="4754880"/>
            <a:ext cx="3291840" cy="274320"/>
          </a:xfrm>
          <a:prstGeom prst="rect">
            <a:avLst/>
          </a:prstGeom>
          <a:noFill/>
        </p:spPr>
        <p:txBody>
          <a:bodyPr wrap="square" lIns="0" tIns="0" rIns="0" bIns="0" rtlCol="0" anchor="ctr"/>
          <a:lstStyle/>
          <a:p>
            <a:pPr marL="0" indent="0">
              <a:buNone/>
            </a:pPr>
            <a:r>
              <a:rPr lang="en-US" sz="1300" b="1" dirty="0">
                <a:solidFill>
                  <a:srgbClr val="5BC0BE"/>
                </a:solidFill>
                <a:latin typeface="Cambria" panose="02040503050406030204" pitchFamily="34" charset="0"/>
                <a:ea typeface="Cambria" panose="02040503050406030204" pitchFamily="34" charset="-122"/>
                <a:cs typeface="Cambria" panose="02040503050406030204" pitchFamily="34" charset="-120"/>
              </a:rPr>
              <a:t>Key Insight</a:t>
            </a:r>
            <a:endParaRPr lang="en-US" sz="1300" dirty="0"/>
          </a:p>
        </p:txBody>
      </p:sp>
      <p:sp>
        <p:nvSpPr>
          <p:cNvPr id="13" name="Text 10"/>
          <p:cNvSpPr/>
          <p:nvPr/>
        </p:nvSpPr>
        <p:spPr>
          <a:xfrm>
            <a:off x="8046720" y="5074920"/>
            <a:ext cx="3337560" cy="1005840"/>
          </a:xfrm>
          <a:prstGeom prst="rect">
            <a:avLst/>
          </a:prstGeom>
          <a:noFill/>
        </p:spPr>
        <p:txBody>
          <a:bodyPr wrap="square" lIns="0" tIns="0" rIns="0" bIns="0" rtlCol="0" anchor="ctr"/>
          <a:lstStyle/>
          <a:p>
            <a:pPr marL="0" indent="0">
              <a:lnSpc>
                <a:spcPct val="120000"/>
              </a:lnSpc>
              <a:buNone/>
            </a:pPr>
            <a:r>
              <a:rPr lang="en-US" sz="1100" i="1" dirty="0">
                <a:solidFill>
                  <a:srgbClr val="E8ECF4"/>
                </a:solidFill>
                <a:latin typeface="Calibri" panose="020F0502020204030204" pitchFamily="34" charset="0"/>
                <a:ea typeface="Calibri" panose="020F0502020204030204" pitchFamily="34" charset="-122"/>
                <a:cs typeface="Calibri" panose="020F0502020204030204" pitchFamily="34" charset="-120"/>
              </a:rPr>
              <a:t>Highlights revenue trends and customer metrics, letting executives read overall performance at a glance.</a:t>
            </a:r>
            <a:endParaRPr lang="en-US" sz="1100" dirty="0"/>
          </a:p>
        </p:txBody>
      </p:sp>
      <p:sp>
        <p:nvSpPr>
          <p:cNvPr id="15" name="Text 11"/>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16" name="Text 12"/>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DASHBOARD 02</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Sales &amp; Product Dashboard</a:t>
            </a:r>
            <a:endParaRPr lang="en-US" sz="3000" dirty="0"/>
          </a:p>
        </p:txBody>
      </p:sp>
      <p:sp>
        <p:nvSpPr>
          <p:cNvPr id="4" name="Shape 2"/>
          <p:cNvSpPr/>
          <p:nvPr/>
        </p:nvSpPr>
        <p:spPr>
          <a:xfrm>
            <a:off x="493776" y="1453896"/>
            <a:ext cx="6967728" cy="2685764"/>
          </a:xfrm>
          <a:prstGeom prst="roundRect">
            <a:avLst>
              <a:gd name="adj" fmla="val 2043"/>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5" name="Image 0" descr="/home/claude/proj2/images/sales_dashboard.jpg"/>
          <p:cNvPicPr>
            <a:picLocks noChangeAspect="1"/>
          </p:cNvPicPr>
          <p:nvPr/>
        </p:nvPicPr>
        <p:blipFill>
          <a:blip r:embed="rId1"/>
          <a:srcRect/>
          <a:stretch>
            <a:fillRect/>
          </a:stretch>
        </p:blipFill>
        <p:spPr>
          <a:xfrm>
            <a:off x="548640" y="1508760"/>
            <a:ext cx="6858000" cy="2576036"/>
          </a:xfrm>
          <a:prstGeom prst="rect">
            <a:avLst/>
          </a:prstGeom>
        </p:spPr>
      </p:pic>
      <p:sp>
        <p:nvSpPr>
          <p:cNvPr id="6" name="Text 3"/>
          <p:cNvSpPr/>
          <p:nvPr/>
        </p:nvSpPr>
        <p:spPr>
          <a:xfrm>
            <a:off x="7818120" y="1508760"/>
            <a:ext cx="3840480" cy="274320"/>
          </a:xfrm>
          <a:prstGeom prst="rect">
            <a:avLst/>
          </a:prstGeom>
          <a:noFill/>
        </p:spPr>
        <p:txBody>
          <a:bodyPr wrap="square" lIns="0" tIns="0" rIns="0" bIns="0" rtlCol="0" anchor="ctr"/>
          <a:lstStyle/>
          <a:p>
            <a:pPr marL="0" indent="0">
              <a:buNone/>
            </a:pPr>
            <a:r>
              <a:rPr lang="en-US" sz="1400" b="1" dirty="0">
                <a:solidFill>
                  <a:srgbClr val="5BC0BE"/>
                </a:solidFill>
                <a:latin typeface="Cambria" panose="02040503050406030204" pitchFamily="34" charset="0"/>
                <a:ea typeface="Cambria" panose="02040503050406030204" pitchFamily="34" charset="-122"/>
                <a:cs typeface="Cambria" panose="02040503050406030204" pitchFamily="34" charset="-120"/>
              </a:rPr>
              <a:t>Dashboard Features</a:t>
            </a:r>
            <a:endParaRPr lang="en-US" sz="1400" dirty="0"/>
          </a:p>
        </p:txBody>
      </p:sp>
      <p:sp>
        <p:nvSpPr>
          <p:cNvPr id="7" name="Text 4"/>
          <p:cNvSpPr/>
          <p:nvPr/>
        </p:nvSpPr>
        <p:spPr>
          <a:xfrm>
            <a:off x="7818120" y="1828800"/>
            <a:ext cx="3840480" cy="1828800"/>
          </a:xfrm>
          <a:prstGeom prst="rect">
            <a:avLst/>
          </a:prstGeom>
          <a:noFill/>
        </p:spPr>
        <p:txBody>
          <a:bodyPr wrap="square" lIns="0" tIns="0" rIns="0" bIns="0" rtlCol="0" anchor="t"/>
          <a:lstStyle/>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Monthly Sales Trend</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Revenue Distribution</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Best Selling Products</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Seasonal Sales Analysis</a:t>
            </a:r>
            <a:endParaRPr lang="en-US" sz="1150" dirty="0"/>
          </a:p>
          <a:p>
            <a:pPr marL="177800" indent="-177800">
              <a:spcAft>
                <a:spcPts val="600"/>
              </a:spcAft>
              <a:buSzPct val="100000"/>
              <a:buChar char="▪"/>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Interactive Filters</a:t>
            </a:r>
            <a:endParaRPr lang="en-US" sz="1150" dirty="0"/>
          </a:p>
        </p:txBody>
      </p:sp>
      <p:sp>
        <p:nvSpPr>
          <p:cNvPr id="8" name="Shape 5"/>
          <p:cNvSpPr/>
          <p:nvPr/>
        </p:nvSpPr>
        <p:spPr>
          <a:xfrm>
            <a:off x="548640" y="4343400"/>
            <a:ext cx="6858000" cy="1783080"/>
          </a:xfrm>
          <a:prstGeom prst="roundRect">
            <a:avLst>
              <a:gd name="adj" fmla="val 4103"/>
            </a:avLst>
          </a:prstGeom>
          <a:solidFill>
            <a:srgbClr val="1E2B4D"/>
          </a:solidFill>
          <a:effectLst>
            <a:outerShdw blurRad="127000" dist="38100" dir="5400000" algn="bl" rotWithShape="0">
              <a:srgbClr val="000000">
                <a:alpha val="35000"/>
              </a:srgbClr>
            </a:outerShdw>
          </a:effectLst>
        </p:spPr>
      </p:sp>
      <p:sp>
        <p:nvSpPr>
          <p:cNvPr id="9" name="Text 6"/>
          <p:cNvSpPr/>
          <p:nvPr/>
        </p:nvSpPr>
        <p:spPr>
          <a:xfrm>
            <a:off x="777240" y="4480560"/>
            <a:ext cx="3657600" cy="274320"/>
          </a:xfrm>
          <a:prstGeom prst="rect">
            <a:avLst/>
          </a:prstGeom>
          <a:noFill/>
        </p:spPr>
        <p:txBody>
          <a:bodyPr wrap="square" lIns="0" tIns="0" rIns="0" bIns="0" rtlCol="0" anchor="ctr"/>
          <a:lstStyle/>
          <a:p>
            <a:pPr marL="0" indent="0">
              <a:buNone/>
            </a:pPr>
            <a:r>
              <a:rPr lang="en-US" sz="1300" b="1" dirty="0">
                <a:solidFill>
                  <a:srgbClr val="FFB627"/>
                </a:solidFill>
                <a:latin typeface="Cambria" panose="02040503050406030204" pitchFamily="34" charset="0"/>
                <a:ea typeface="Cambria" panose="02040503050406030204" pitchFamily="34" charset="-122"/>
                <a:cs typeface="Cambria" panose="02040503050406030204" pitchFamily="34" charset="-120"/>
              </a:rPr>
              <a:t>Business Value</a:t>
            </a:r>
            <a:endParaRPr lang="en-US" sz="1300" dirty="0"/>
          </a:p>
        </p:txBody>
      </p:sp>
      <p:sp>
        <p:nvSpPr>
          <p:cNvPr id="10" name="Text 7"/>
          <p:cNvSpPr/>
          <p:nvPr/>
        </p:nvSpPr>
        <p:spPr>
          <a:xfrm>
            <a:off x="777240" y="4800600"/>
            <a:ext cx="6309360" cy="1234440"/>
          </a:xfrm>
          <a:prstGeom prst="rect">
            <a:avLst/>
          </a:prstGeom>
          <a:noFill/>
        </p:spPr>
        <p:txBody>
          <a:bodyPr wrap="square" lIns="0" tIns="0" rIns="0" bIns="0" rtlCol="0" anchor="t"/>
          <a:lstStyle/>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Identifies high-performing products</a:t>
            </a:r>
            <a:endParaRPr lang="en-US" sz="1100" dirty="0"/>
          </a:p>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Tracks monthly revenue patterns</a:t>
            </a:r>
            <a:endParaRPr lang="en-US" sz="1100" dirty="0"/>
          </a:p>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Supports inventory planning</a:t>
            </a:r>
            <a:endParaRPr lang="en-US" sz="1100" dirty="0"/>
          </a:p>
          <a:p>
            <a:pPr marL="177800" indent="-177800">
              <a:spcAft>
                <a:spcPts val="500"/>
              </a:spcAft>
              <a:buSzPct val="100000"/>
              <a:buChar char="▪"/>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Helps optimize sales strategies</a:t>
            </a:r>
            <a:endParaRPr lang="en-US" sz="1100" dirty="0"/>
          </a:p>
        </p:txBody>
      </p:sp>
      <p:sp>
        <p:nvSpPr>
          <p:cNvPr id="11" name="Shape 8"/>
          <p:cNvSpPr/>
          <p:nvPr/>
        </p:nvSpPr>
        <p:spPr>
          <a:xfrm>
            <a:off x="7818120" y="4343400"/>
            <a:ext cx="3840480" cy="1783080"/>
          </a:xfrm>
          <a:prstGeom prst="roundRect">
            <a:avLst>
              <a:gd name="adj" fmla="val 4103"/>
            </a:avLst>
          </a:prstGeom>
          <a:solidFill>
            <a:srgbClr val="16213E"/>
          </a:solidFill>
          <a:effectLst>
            <a:outerShdw blurRad="127000" dist="38100" dir="5400000" algn="bl" rotWithShape="0">
              <a:srgbClr val="000000">
                <a:alpha val="35000"/>
              </a:srgbClr>
            </a:outerShdw>
          </a:effectLst>
        </p:spPr>
      </p:sp>
      <p:sp>
        <p:nvSpPr>
          <p:cNvPr id="12" name="Text 9"/>
          <p:cNvSpPr/>
          <p:nvPr/>
        </p:nvSpPr>
        <p:spPr>
          <a:xfrm>
            <a:off x="8046720" y="4480560"/>
            <a:ext cx="3291840" cy="274320"/>
          </a:xfrm>
          <a:prstGeom prst="rect">
            <a:avLst/>
          </a:prstGeom>
          <a:noFill/>
        </p:spPr>
        <p:txBody>
          <a:bodyPr wrap="square" lIns="0" tIns="0" rIns="0" bIns="0" rtlCol="0" anchor="ctr"/>
          <a:lstStyle/>
          <a:p>
            <a:pPr marL="0" indent="0">
              <a:buNone/>
            </a:pPr>
            <a:r>
              <a:rPr lang="en-US" sz="1300" b="1" dirty="0">
                <a:solidFill>
                  <a:srgbClr val="5BC0BE"/>
                </a:solidFill>
                <a:latin typeface="Cambria" panose="02040503050406030204" pitchFamily="34" charset="0"/>
                <a:ea typeface="Cambria" panose="02040503050406030204" pitchFamily="34" charset="-122"/>
                <a:cs typeface="Cambria" panose="02040503050406030204" pitchFamily="34" charset="-120"/>
              </a:rPr>
              <a:t>Key Insight</a:t>
            </a:r>
            <a:endParaRPr lang="en-US" sz="1300" dirty="0"/>
          </a:p>
        </p:txBody>
      </p:sp>
      <p:sp>
        <p:nvSpPr>
          <p:cNvPr id="13" name="Text 10"/>
          <p:cNvSpPr/>
          <p:nvPr/>
        </p:nvSpPr>
        <p:spPr>
          <a:xfrm>
            <a:off x="8046720" y="4800600"/>
            <a:ext cx="3337560" cy="1188720"/>
          </a:xfrm>
          <a:prstGeom prst="rect">
            <a:avLst/>
          </a:prstGeom>
          <a:noFill/>
        </p:spPr>
        <p:txBody>
          <a:bodyPr wrap="square" lIns="0" tIns="0" rIns="0" bIns="0" rtlCol="0" anchor="ctr"/>
          <a:lstStyle/>
          <a:p>
            <a:pPr marL="0" indent="0">
              <a:lnSpc>
                <a:spcPct val="120000"/>
              </a:lnSpc>
              <a:buNone/>
            </a:pPr>
            <a:r>
              <a:rPr lang="en-US" sz="1100" i="1" dirty="0">
                <a:solidFill>
                  <a:srgbClr val="E8ECF4"/>
                </a:solidFill>
                <a:latin typeface="Calibri" panose="020F0502020204030204" pitchFamily="34" charset="0"/>
                <a:ea typeface="Calibri" panose="020F0502020204030204" pitchFamily="34" charset="-122"/>
                <a:cs typeface="Calibri" panose="020F0502020204030204" pitchFamily="34" charset="-120"/>
              </a:rPr>
              <a:t>Sales fluctuate seasonally — businesses should prepare inventory based on expected demand.</a:t>
            </a:r>
            <a:endParaRPr lang="en-US" sz="1100" dirty="0"/>
          </a:p>
        </p:txBody>
      </p:sp>
      <p:sp>
        <p:nvSpPr>
          <p:cNvPr id="15" name="Text 11"/>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16" name="Text 12"/>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DASHBOARD 03</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Customer Segmentation (RFM Analysis)</a:t>
            </a:r>
            <a:endParaRPr lang="en-US" sz="3000" dirty="0"/>
          </a:p>
        </p:txBody>
      </p:sp>
      <p:sp>
        <p:nvSpPr>
          <p:cNvPr id="4" name="Shape 2"/>
          <p:cNvSpPr/>
          <p:nvPr/>
        </p:nvSpPr>
        <p:spPr>
          <a:xfrm>
            <a:off x="493776" y="1408176"/>
            <a:ext cx="6601968" cy="2844584"/>
          </a:xfrm>
          <a:prstGeom prst="roundRect">
            <a:avLst>
              <a:gd name="adj" fmla="val 1929"/>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5" name="Image 0" descr="/home/claude/proj2/images/rfm_dashboard.jpg"/>
          <p:cNvPicPr>
            <a:picLocks noChangeAspect="1"/>
          </p:cNvPicPr>
          <p:nvPr/>
        </p:nvPicPr>
        <p:blipFill>
          <a:blip r:embed="rId1"/>
          <a:srcRect/>
          <a:stretch>
            <a:fillRect/>
          </a:stretch>
        </p:blipFill>
        <p:spPr>
          <a:xfrm>
            <a:off x="548640" y="1463040"/>
            <a:ext cx="6492240" cy="2734856"/>
          </a:xfrm>
          <a:prstGeom prst="rect">
            <a:avLst/>
          </a:prstGeom>
        </p:spPr>
      </p:pic>
      <p:sp>
        <p:nvSpPr>
          <p:cNvPr id="6" name="Text 3"/>
          <p:cNvSpPr/>
          <p:nvPr/>
        </p:nvSpPr>
        <p:spPr>
          <a:xfrm>
            <a:off x="7269480" y="1463040"/>
            <a:ext cx="4389120" cy="274320"/>
          </a:xfrm>
          <a:prstGeom prst="rect">
            <a:avLst/>
          </a:prstGeom>
          <a:noFill/>
        </p:spPr>
        <p:txBody>
          <a:bodyPr wrap="square" lIns="0" tIns="0" rIns="0" bIns="0" rtlCol="0" anchor="ctr"/>
          <a:lstStyle/>
          <a:p>
            <a:pPr marL="0" indent="0">
              <a:buNone/>
            </a:pPr>
            <a:r>
              <a:rPr lang="en-US" sz="1350" b="1" dirty="0">
                <a:solidFill>
                  <a:srgbClr val="5BC0BE"/>
                </a:solidFill>
                <a:latin typeface="Cambria" panose="02040503050406030204" pitchFamily="34" charset="0"/>
                <a:ea typeface="Cambria" panose="02040503050406030204" pitchFamily="34" charset="-122"/>
                <a:cs typeface="Cambria" panose="02040503050406030204" pitchFamily="34" charset="-120"/>
              </a:rPr>
              <a:t>What Is RFM Analysis?</a:t>
            </a:r>
            <a:endParaRPr lang="en-US" sz="1350" dirty="0"/>
          </a:p>
        </p:txBody>
      </p:sp>
      <p:sp>
        <p:nvSpPr>
          <p:cNvPr id="7" name="Text 4"/>
          <p:cNvSpPr/>
          <p:nvPr/>
        </p:nvSpPr>
        <p:spPr>
          <a:xfrm>
            <a:off x="7269480" y="1755648"/>
            <a:ext cx="4389120" cy="384048"/>
          </a:xfrm>
          <a:prstGeom prst="rect">
            <a:avLst/>
          </a:prstGeom>
          <a:noFill/>
        </p:spPr>
        <p:txBody>
          <a:bodyPr wrap="square" lIns="0" tIns="0" rIns="0" bIns="0" rtlCol="0" anchor="ctr"/>
          <a:lstStyle/>
          <a:p>
            <a:pPr marL="0" indent="0">
              <a:buNone/>
            </a:pPr>
            <a:r>
              <a:rPr lang="en-US" sz="1050" i="1" dirty="0">
                <a:solidFill>
                  <a:srgbClr val="8D9AB8"/>
                </a:solidFill>
                <a:latin typeface="Calibri" panose="020F0502020204030204" pitchFamily="34" charset="0"/>
                <a:ea typeface="Calibri" panose="020F0502020204030204" pitchFamily="34" charset="-122"/>
                <a:cs typeface="Calibri" panose="020F0502020204030204" pitchFamily="34" charset="-120"/>
              </a:rPr>
              <a:t>A customer segmentation technique based on purchasing behaviour.</a:t>
            </a:r>
            <a:endParaRPr lang="en-US" sz="1050" dirty="0"/>
          </a:p>
        </p:txBody>
      </p:sp>
      <p:sp>
        <p:nvSpPr>
          <p:cNvPr id="8" name="Shape 5"/>
          <p:cNvSpPr/>
          <p:nvPr/>
        </p:nvSpPr>
        <p:spPr>
          <a:xfrm>
            <a:off x="7269480" y="2286000"/>
            <a:ext cx="420624" cy="420624"/>
          </a:xfrm>
          <a:prstGeom prst="ellipse">
            <a:avLst/>
          </a:prstGeom>
          <a:solidFill>
            <a:srgbClr val="5BC0BE"/>
          </a:solidFill>
        </p:spPr>
      </p:sp>
      <p:sp>
        <p:nvSpPr>
          <p:cNvPr id="9" name="Text 6"/>
          <p:cNvSpPr/>
          <p:nvPr/>
        </p:nvSpPr>
        <p:spPr>
          <a:xfrm>
            <a:off x="7269480" y="2286000"/>
            <a:ext cx="420624" cy="420624"/>
          </a:xfrm>
          <a:prstGeom prst="rect">
            <a:avLst/>
          </a:prstGeom>
          <a:noFill/>
        </p:spPr>
        <p:txBody>
          <a:bodyPr wrap="square" rtlCol="0" anchor="ctr"/>
          <a:lstStyle/>
          <a:p>
            <a:pPr marL="0" indent="0" algn="ctr">
              <a:buNone/>
            </a:pPr>
            <a:r>
              <a:rPr lang="en-US" sz="1500" b="1" dirty="0">
                <a:solidFill>
                  <a:srgbClr val="0B132B"/>
                </a:solidFill>
                <a:latin typeface="Calibri" panose="020F0502020204030204" pitchFamily="34" charset="0"/>
                <a:ea typeface="Calibri" panose="020F0502020204030204" pitchFamily="34" charset="-122"/>
                <a:cs typeface="Calibri" panose="020F0502020204030204" pitchFamily="34" charset="-120"/>
              </a:rPr>
              <a:t>R</a:t>
            </a:r>
            <a:endParaRPr lang="en-US" sz="1500" dirty="0"/>
          </a:p>
        </p:txBody>
      </p:sp>
      <p:sp>
        <p:nvSpPr>
          <p:cNvPr id="10" name="Text 7"/>
          <p:cNvSpPr/>
          <p:nvPr/>
        </p:nvSpPr>
        <p:spPr>
          <a:xfrm>
            <a:off x="7818120" y="2231136"/>
            <a:ext cx="146304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Recency</a:t>
            </a:r>
            <a:endParaRPr lang="en-US" sz="1200" dirty="0"/>
          </a:p>
        </p:txBody>
      </p:sp>
      <p:sp>
        <p:nvSpPr>
          <p:cNvPr id="11" name="Text 8"/>
          <p:cNvSpPr/>
          <p:nvPr/>
        </p:nvSpPr>
        <p:spPr>
          <a:xfrm>
            <a:off x="7818120" y="2468880"/>
            <a:ext cx="3749040" cy="274320"/>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How recently a customer purchased</a:t>
            </a:r>
            <a:endParaRPr lang="en-US" sz="980" dirty="0"/>
          </a:p>
        </p:txBody>
      </p:sp>
      <p:sp>
        <p:nvSpPr>
          <p:cNvPr id="12" name="Shape 9"/>
          <p:cNvSpPr/>
          <p:nvPr/>
        </p:nvSpPr>
        <p:spPr>
          <a:xfrm>
            <a:off x="7269480" y="2852928"/>
            <a:ext cx="420624" cy="420624"/>
          </a:xfrm>
          <a:prstGeom prst="ellipse">
            <a:avLst/>
          </a:prstGeom>
          <a:solidFill>
            <a:srgbClr val="5BC0BE"/>
          </a:solidFill>
        </p:spPr>
      </p:sp>
      <p:sp>
        <p:nvSpPr>
          <p:cNvPr id="13" name="Text 10"/>
          <p:cNvSpPr/>
          <p:nvPr/>
        </p:nvSpPr>
        <p:spPr>
          <a:xfrm>
            <a:off x="7269480" y="2852928"/>
            <a:ext cx="420624" cy="420624"/>
          </a:xfrm>
          <a:prstGeom prst="rect">
            <a:avLst/>
          </a:prstGeom>
          <a:noFill/>
        </p:spPr>
        <p:txBody>
          <a:bodyPr wrap="square" rtlCol="0" anchor="ctr"/>
          <a:lstStyle/>
          <a:p>
            <a:pPr marL="0" indent="0" algn="ctr">
              <a:buNone/>
            </a:pPr>
            <a:r>
              <a:rPr lang="en-US" sz="1500" b="1" dirty="0">
                <a:solidFill>
                  <a:srgbClr val="0B132B"/>
                </a:solidFill>
                <a:latin typeface="Calibri" panose="020F0502020204030204" pitchFamily="34" charset="0"/>
                <a:ea typeface="Calibri" panose="020F0502020204030204" pitchFamily="34" charset="-122"/>
                <a:cs typeface="Calibri" panose="020F0502020204030204" pitchFamily="34" charset="-120"/>
              </a:rPr>
              <a:t>F</a:t>
            </a:r>
            <a:endParaRPr lang="en-US" sz="1500" dirty="0"/>
          </a:p>
        </p:txBody>
      </p:sp>
      <p:sp>
        <p:nvSpPr>
          <p:cNvPr id="14" name="Text 11"/>
          <p:cNvSpPr/>
          <p:nvPr/>
        </p:nvSpPr>
        <p:spPr>
          <a:xfrm>
            <a:off x="7818120" y="2798064"/>
            <a:ext cx="146304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Frequency</a:t>
            </a:r>
            <a:endParaRPr lang="en-US" sz="1200" dirty="0"/>
          </a:p>
        </p:txBody>
      </p:sp>
      <p:sp>
        <p:nvSpPr>
          <p:cNvPr id="15" name="Text 12"/>
          <p:cNvSpPr/>
          <p:nvPr/>
        </p:nvSpPr>
        <p:spPr>
          <a:xfrm>
            <a:off x="7818120" y="3035808"/>
            <a:ext cx="3749040" cy="274320"/>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How often a customer purchases</a:t>
            </a:r>
            <a:endParaRPr lang="en-US" sz="980" dirty="0"/>
          </a:p>
        </p:txBody>
      </p:sp>
      <p:sp>
        <p:nvSpPr>
          <p:cNvPr id="16" name="Shape 13"/>
          <p:cNvSpPr/>
          <p:nvPr/>
        </p:nvSpPr>
        <p:spPr>
          <a:xfrm>
            <a:off x="7269480" y="3419856"/>
            <a:ext cx="420624" cy="420624"/>
          </a:xfrm>
          <a:prstGeom prst="ellipse">
            <a:avLst/>
          </a:prstGeom>
          <a:solidFill>
            <a:srgbClr val="5BC0BE"/>
          </a:solidFill>
        </p:spPr>
      </p:sp>
      <p:sp>
        <p:nvSpPr>
          <p:cNvPr id="17" name="Text 14"/>
          <p:cNvSpPr/>
          <p:nvPr/>
        </p:nvSpPr>
        <p:spPr>
          <a:xfrm>
            <a:off x="7269480" y="3419856"/>
            <a:ext cx="420624" cy="420624"/>
          </a:xfrm>
          <a:prstGeom prst="rect">
            <a:avLst/>
          </a:prstGeom>
          <a:noFill/>
        </p:spPr>
        <p:txBody>
          <a:bodyPr wrap="square" rtlCol="0" anchor="ctr"/>
          <a:lstStyle/>
          <a:p>
            <a:pPr marL="0" indent="0" algn="ctr">
              <a:buNone/>
            </a:pPr>
            <a:r>
              <a:rPr lang="en-US" sz="1500" b="1" dirty="0">
                <a:solidFill>
                  <a:srgbClr val="0B132B"/>
                </a:solidFill>
                <a:latin typeface="Calibri" panose="020F0502020204030204" pitchFamily="34" charset="0"/>
                <a:ea typeface="Calibri" panose="020F0502020204030204" pitchFamily="34" charset="-122"/>
                <a:cs typeface="Calibri" panose="020F0502020204030204" pitchFamily="34" charset="-120"/>
              </a:rPr>
              <a:t>M</a:t>
            </a:r>
            <a:endParaRPr lang="en-US" sz="1500" dirty="0"/>
          </a:p>
        </p:txBody>
      </p:sp>
      <p:sp>
        <p:nvSpPr>
          <p:cNvPr id="18" name="Text 15"/>
          <p:cNvSpPr/>
          <p:nvPr/>
        </p:nvSpPr>
        <p:spPr>
          <a:xfrm>
            <a:off x="7818120" y="3364992"/>
            <a:ext cx="146304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Monetary</a:t>
            </a:r>
            <a:endParaRPr lang="en-US" sz="1200" dirty="0"/>
          </a:p>
        </p:txBody>
      </p:sp>
      <p:sp>
        <p:nvSpPr>
          <p:cNvPr id="19" name="Text 16"/>
          <p:cNvSpPr/>
          <p:nvPr/>
        </p:nvSpPr>
        <p:spPr>
          <a:xfrm>
            <a:off x="7818120" y="3602736"/>
            <a:ext cx="3749040" cy="274320"/>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How much money a customer spends</a:t>
            </a:r>
            <a:endParaRPr lang="en-US" sz="980" dirty="0"/>
          </a:p>
        </p:txBody>
      </p:sp>
      <p:sp>
        <p:nvSpPr>
          <p:cNvPr id="21" name="Text 17"/>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22" name="Text 18"/>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DASHBOARD 04</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Revenue Forecasting</a:t>
            </a:r>
            <a:endParaRPr lang="en-US" sz="3000" dirty="0"/>
          </a:p>
        </p:txBody>
      </p:sp>
      <p:sp>
        <p:nvSpPr>
          <p:cNvPr id="4" name="Shape 2"/>
          <p:cNvSpPr/>
          <p:nvPr/>
        </p:nvSpPr>
        <p:spPr>
          <a:xfrm>
            <a:off x="493776" y="1453896"/>
            <a:ext cx="6967728" cy="2972943"/>
          </a:xfrm>
          <a:prstGeom prst="roundRect">
            <a:avLst>
              <a:gd name="adj" fmla="val 1845"/>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5" name="Image 0" descr="/home/claude/proj2/images/forecast_dashboard.jpg"/>
          <p:cNvPicPr>
            <a:picLocks noChangeAspect="1"/>
          </p:cNvPicPr>
          <p:nvPr/>
        </p:nvPicPr>
        <p:blipFill>
          <a:blip r:embed="rId1"/>
          <a:srcRect/>
          <a:stretch>
            <a:fillRect/>
          </a:stretch>
        </p:blipFill>
        <p:spPr>
          <a:xfrm>
            <a:off x="548640" y="1508760"/>
            <a:ext cx="6858000" cy="2863215"/>
          </a:xfrm>
          <a:prstGeom prst="rect">
            <a:avLst/>
          </a:prstGeom>
        </p:spPr>
      </p:pic>
      <p:sp>
        <p:nvSpPr>
          <p:cNvPr id="6" name="Shape 3"/>
          <p:cNvSpPr/>
          <p:nvPr/>
        </p:nvSpPr>
        <p:spPr>
          <a:xfrm>
            <a:off x="7818120" y="1508760"/>
            <a:ext cx="3840480" cy="868680"/>
          </a:xfrm>
          <a:prstGeom prst="roundRect">
            <a:avLst>
              <a:gd name="adj" fmla="val 8421"/>
            </a:avLst>
          </a:prstGeom>
          <a:solidFill>
            <a:srgbClr val="1E2B4D"/>
          </a:solidFill>
          <a:effectLst>
            <a:outerShdw blurRad="127000" dist="38100" dir="5400000" algn="bl" rotWithShape="0">
              <a:srgbClr val="000000">
                <a:alpha val="35000"/>
              </a:srgbClr>
            </a:outerShdw>
          </a:effectLst>
        </p:spPr>
      </p:sp>
      <p:sp>
        <p:nvSpPr>
          <p:cNvPr id="7" name="Text 4"/>
          <p:cNvSpPr/>
          <p:nvPr/>
        </p:nvSpPr>
        <p:spPr>
          <a:xfrm>
            <a:off x="8046720" y="1627632"/>
            <a:ext cx="3383280" cy="219456"/>
          </a:xfrm>
          <a:prstGeom prst="rect">
            <a:avLst/>
          </a:prstGeom>
          <a:noFill/>
        </p:spPr>
        <p:txBody>
          <a:bodyPr wrap="square" lIns="0" tIns="0" rIns="0" bIns="0" rtlCol="0" anchor="ctr"/>
          <a:lstStyle/>
          <a:p>
            <a:pPr marL="0" indent="0">
              <a:buNone/>
            </a:pPr>
            <a:r>
              <a:rPr lang="en-US" sz="950" b="1" kern="0" spc="150" dirty="0">
                <a:solidFill>
                  <a:srgbClr val="5BC0BE"/>
                </a:solidFill>
                <a:latin typeface="Calibri" panose="020F0502020204030204" pitchFamily="34" charset="0"/>
                <a:ea typeface="Calibri" panose="020F0502020204030204" pitchFamily="34" charset="-122"/>
                <a:cs typeface="Calibri" panose="020F0502020204030204" pitchFamily="34" charset="-120"/>
              </a:rPr>
              <a:t>MODEL USED</a:t>
            </a:r>
            <a:endParaRPr lang="en-US" sz="950" dirty="0"/>
          </a:p>
        </p:txBody>
      </p:sp>
      <p:sp>
        <p:nvSpPr>
          <p:cNvPr id="8" name="Text 5"/>
          <p:cNvSpPr/>
          <p:nvPr/>
        </p:nvSpPr>
        <p:spPr>
          <a:xfrm>
            <a:off x="8046720" y="1847088"/>
            <a:ext cx="3383280" cy="320040"/>
          </a:xfrm>
          <a:prstGeom prst="rect">
            <a:avLst/>
          </a:prstGeom>
          <a:noFill/>
        </p:spPr>
        <p:txBody>
          <a:bodyPr wrap="square" lIns="0" tIns="0" rIns="0" bIns="0" rtlCol="0" anchor="ctr"/>
          <a:lstStyle/>
          <a:p>
            <a:pPr marL="0" indent="0">
              <a:buNone/>
            </a:pPr>
            <a:r>
              <a:rPr lang="en-US" sz="1550" b="1" dirty="0">
                <a:solidFill>
                  <a:srgbClr val="FFFFFF"/>
                </a:solidFill>
                <a:latin typeface="Cambria" panose="02040503050406030204" pitchFamily="34" charset="0"/>
                <a:ea typeface="Cambria" panose="02040503050406030204" pitchFamily="34" charset="-122"/>
                <a:cs typeface="Cambria" panose="02040503050406030204" pitchFamily="34" charset="-120"/>
              </a:rPr>
              <a:t>Facebook Prophet</a:t>
            </a:r>
            <a:endParaRPr lang="en-US" sz="1550" dirty="0"/>
          </a:p>
        </p:txBody>
      </p:sp>
      <p:sp>
        <p:nvSpPr>
          <p:cNvPr id="9" name="Text 6"/>
          <p:cNvSpPr/>
          <p:nvPr/>
        </p:nvSpPr>
        <p:spPr>
          <a:xfrm>
            <a:off x="8046720" y="2157984"/>
            <a:ext cx="3383280" cy="201168"/>
          </a:xfrm>
          <a:prstGeom prst="rect">
            <a:avLst/>
          </a:prstGeom>
          <a:noFill/>
        </p:spPr>
        <p:txBody>
          <a:bodyPr wrap="square" lIns="0" tIns="0" rIns="0" bIns="0" rtlCol="0" anchor="ctr"/>
          <a:lstStyle/>
          <a:p>
            <a:pPr marL="0" indent="0">
              <a:buNone/>
            </a:pPr>
            <a:r>
              <a:rPr lang="en-US" sz="950" i="1" dirty="0">
                <a:solidFill>
                  <a:srgbClr val="8D9AB8"/>
                </a:solidFill>
                <a:latin typeface="Calibri" panose="020F0502020204030204" pitchFamily="34" charset="0"/>
                <a:ea typeface="Calibri" panose="020F0502020204030204" pitchFamily="34" charset="-122"/>
                <a:cs typeface="Calibri" panose="020F0502020204030204" pitchFamily="34" charset="-120"/>
              </a:rPr>
              <a:t>Time-series forecasting model developed by Meta</a:t>
            </a:r>
            <a:endParaRPr lang="en-US" sz="950" dirty="0"/>
          </a:p>
        </p:txBody>
      </p:sp>
      <p:sp>
        <p:nvSpPr>
          <p:cNvPr id="10" name="Shape 7"/>
          <p:cNvSpPr/>
          <p:nvPr/>
        </p:nvSpPr>
        <p:spPr>
          <a:xfrm>
            <a:off x="7818120" y="2606040"/>
            <a:ext cx="365760" cy="365760"/>
          </a:xfrm>
          <a:prstGeom prst="ellipse">
            <a:avLst/>
          </a:prstGeom>
          <a:solidFill>
            <a:srgbClr val="0B132B"/>
          </a:solidFill>
        </p:spPr>
      </p:sp>
      <p:sp>
        <p:nvSpPr>
          <p:cNvPr id="11" name="Text 8"/>
          <p:cNvSpPr/>
          <p:nvPr/>
        </p:nvSpPr>
        <p:spPr>
          <a:xfrm>
            <a:off x="7818120" y="2606040"/>
            <a:ext cx="365760" cy="365760"/>
          </a:xfrm>
          <a:prstGeom prst="rect">
            <a:avLst/>
          </a:prstGeom>
          <a:noFill/>
        </p:spPr>
        <p:txBody>
          <a:bodyPr wrap="square" rtlCol="0" anchor="ctr"/>
          <a:lstStyle/>
          <a:p>
            <a:pPr marL="0" indent="0" algn="ctr">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2" name="Text 9"/>
          <p:cNvSpPr/>
          <p:nvPr/>
        </p:nvSpPr>
        <p:spPr>
          <a:xfrm>
            <a:off x="8275320" y="2578608"/>
            <a:ext cx="3291840" cy="420624"/>
          </a:xfrm>
          <a:prstGeom prst="rect">
            <a:avLst/>
          </a:prstGeom>
          <a:noFill/>
        </p:spPr>
        <p:txBody>
          <a:bodyPr wrap="square" lIns="0" tIns="0" rIns="0" bIns="0" rtlCol="0" anchor="ctr"/>
          <a:lstStyle/>
          <a:p>
            <a:pPr marL="0" indent="0">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Historical Revenue</a:t>
            </a:r>
            <a:endParaRPr lang="en-US" sz="1150" dirty="0"/>
          </a:p>
        </p:txBody>
      </p:sp>
      <p:sp>
        <p:nvSpPr>
          <p:cNvPr id="13" name="Text 10"/>
          <p:cNvSpPr/>
          <p:nvPr/>
        </p:nvSpPr>
        <p:spPr>
          <a:xfrm>
            <a:off x="7818120" y="2935224"/>
            <a:ext cx="365760" cy="182880"/>
          </a:xfrm>
          <a:prstGeom prst="rect">
            <a:avLst/>
          </a:prstGeom>
          <a:noFill/>
        </p:spPr>
        <p:txBody>
          <a:bodyPr wrap="square" lIns="0" tIns="0" rIns="0" bIns="0" rtlCol="0" anchor="ctr"/>
          <a:lstStyle/>
          <a:p>
            <a:pPr marL="0" indent="0" algn="ctr">
              <a:buNone/>
            </a:pPr>
            <a:r>
              <a:rPr lang="en-US" sz="10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14" name="Shape 11"/>
          <p:cNvSpPr/>
          <p:nvPr/>
        </p:nvSpPr>
        <p:spPr>
          <a:xfrm>
            <a:off x="7818120" y="3136392"/>
            <a:ext cx="365760" cy="365760"/>
          </a:xfrm>
          <a:prstGeom prst="ellipse">
            <a:avLst/>
          </a:prstGeom>
          <a:solidFill>
            <a:srgbClr val="0B132B"/>
          </a:solidFill>
        </p:spPr>
      </p:sp>
      <p:sp>
        <p:nvSpPr>
          <p:cNvPr id="15" name="Text 12"/>
          <p:cNvSpPr/>
          <p:nvPr/>
        </p:nvSpPr>
        <p:spPr>
          <a:xfrm>
            <a:off x="7818120" y="3136392"/>
            <a:ext cx="365760" cy="365760"/>
          </a:xfrm>
          <a:prstGeom prst="rect">
            <a:avLst/>
          </a:prstGeom>
          <a:noFill/>
        </p:spPr>
        <p:txBody>
          <a:bodyPr wrap="square" rtlCol="0" anchor="ctr"/>
          <a:lstStyle/>
          <a:p>
            <a:pPr marL="0" indent="0" algn="ctr">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6" name="Text 13"/>
          <p:cNvSpPr/>
          <p:nvPr/>
        </p:nvSpPr>
        <p:spPr>
          <a:xfrm>
            <a:off x="8275320" y="3108960"/>
            <a:ext cx="3291840" cy="420624"/>
          </a:xfrm>
          <a:prstGeom prst="rect">
            <a:avLst/>
          </a:prstGeom>
          <a:noFill/>
        </p:spPr>
        <p:txBody>
          <a:bodyPr wrap="square" lIns="0" tIns="0" rIns="0" bIns="0" rtlCol="0" anchor="ctr"/>
          <a:lstStyle/>
          <a:p>
            <a:pPr marL="0" indent="0">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Trend Detection</a:t>
            </a:r>
            <a:endParaRPr lang="en-US" sz="1150" dirty="0"/>
          </a:p>
        </p:txBody>
      </p:sp>
      <p:sp>
        <p:nvSpPr>
          <p:cNvPr id="17" name="Text 14"/>
          <p:cNvSpPr/>
          <p:nvPr/>
        </p:nvSpPr>
        <p:spPr>
          <a:xfrm>
            <a:off x="7818120" y="3465576"/>
            <a:ext cx="365760" cy="182880"/>
          </a:xfrm>
          <a:prstGeom prst="rect">
            <a:avLst/>
          </a:prstGeom>
          <a:noFill/>
        </p:spPr>
        <p:txBody>
          <a:bodyPr wrap="square" lIns="0" tIns="0" rIns="0" bIns="0" rtlCol="0" anchor="ctr"/>
          <a:lstStyle/>
          <a:p>
            <a:pPr marL="0" indent="0" algn="ctr">
              <a:buNone/>
            </a:pPr>
            <a:r>
              <a:rPr lang="en-US" sz="10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18" name="Shape 15"/>
          <p:cNvSpPr/>
          <p:nvPr/>
        </p:nvSpPr>
        <p:spPr>
          <a:xfrm>
            <a:off x="7818120" y="3666744"/>
            <a:ext cx="365760" cy="365760"/>
          </a:xfrm>
          <a:prstGeom prst="ellipse">
            <a:avLst/>
          </a:prstGeom>
          <a:solidFill>
            <a:srgbClr val="0B132B"/>
          </a:solidFill>
        </p:spPr>
      </p:sp>
      <p:sp>
        <p:nvSpPr>
          <p:cNvPr id="19" name="Text 16"/>
          <p:cNvSpPr/>
          <p:nvPr/>
        </p:nvSpPr>
        <p:spPr>
          <a:xfrm>
            <a:off x="7818120" y="3666744"/>
            <a:ext cx="365760" cy="365760"/>
          </a:xfrm>
          <a:prstGeom prst="rect">
            <a:avLst/>
          </a:prstGeom>
          <a:noFill/>
        </p:spPr>
        <p:txBody>
          <a:bodyPr wrap="square" rtlCol="0" anchor="ctr"/>
          <a:lstStyle/>
          <a:p>
            <a:pPr marL="0" indent="0" algn="ctr">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0" name="Text 17"/>
          <p:cNvSpPr/>
          <p:nvPr/>
        </p:nvSpPr>
        <p:spPr>
          <a:xfrm>
            <a:off x="8275320" y="3639312"/>
            <a:ext cx="3291840" cy="420624"/>
          </a:xfrm>
          <a:prstGeom prst="rect">
            <a:avLst/>
          </a:prstGeom>
          <a:noFill/>
        </p:spPr>
        <p:txBody>
          <a:bodyPr wrap="square" lIns="0" tIns="0" rIns="0" bIns="0" rtlCol="0" anchor="ctr"/>
          <a:lstStyle/>
          <a:p>
            <a:pPr marL="0" indent="0">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Seasonality Analysis</a:t>
            </a:r>
            <a:endParaRPr lang="en-US" sz="1150" dirty="0"/>
          </a:p>
        </p:txBody>
      </p:sp>
      <p:sp>
        <p:nvSpPr>
          <p:cNvPr id="21" name="Text 18"/>
          <p:cNvSpPr/>
          <p:nvPr/>
        </p:nvSpPr>
        <p:spPr>
          <a:xfrm>
            <a:off x="7818120" y="3995928"/>
            <a:ext cx="365760" cy="182880"/>
          </a:xfrm>
          <a:prstGeom prst="rect">
            <a:avLst/>
          </a:prstGeom>
          <a:noFill/>
        </p:spPr>
        <p:txBody>
          <a:bodyPr wrap="square" lIns="0" tIns="0" rIns="0" bIns="0" rtlCol="0" anchor="ctr"/>
          <a:lstStyle/>
          <a:p>
            <a:pPr marL="0" indent="0" algn="ctr">
              <a:buNone/>
            </a:pPr>
            <a:r>
              <a:rPr lang="en-US" sz="1000" dirty="0">
                <a:solidFill>
                  <a:srgbClr val="5BC0BE"/>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22" name="Shape 19"/>
          <p:cNvSpPr/>
          <p:nvPr/>
        </p:nvSpPr>
        <p:spPr>
          <a:xfrm>
            <a:off x="7818120" y="4197096"/>
            <a:ext cx="365760" cy="365760"/>
          </a:xfrm>
          <a:prstGeom prst="ellipse">
            <a:avLst/>
          </a:prstGeom>
          <a:solidFill>
            <a:srgbClr val="0B132B"/>
          </a:solidFill>
        </p:spPr>
      </p:sp>
      <p:sp>
        <p:nvSpPr>
          <p:cNvPr id="23" name="Text 20"/>
          <p:cNvSpPr/>
          <p:nvPr/>
        </p:nvSpPr>
        <p:spPr>
          <a:xfrm>
            <a:off x="7818120" y="4197096"/>
            <a:ext cx="365760" cy="365760"/>
          </a:xfrm>
          <a:prstGeom prst="rect">
            <a:avLst/>
          </a:prstGeom>
          <a:noFill/>
        </p:spPr>
        <p:txBody>
          <a:bodyPr wrap="square" rtlCol="0" anchor="ctr"/>
          <a:lstStyle/>
          <a:p>
            <a:pPr marL="0" indent="0" algn="ctr">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24" name="Text 21"/>
          <p:cNvSpPr/>
          <p:nvPr/>
        </p:nvSpPr>
        <p:spPr>
          <a:xfrm>
            <a:off x="8275320" y="4169664"/>
            <a:ext cx="3291840" cy="420624"/>
          </a:xfrm>
          <a:prstGeom prst="rect">
            <a:avLst/>
          </a:prstGeom>
          <a:noFill/>
        </p:spPr>
        <p:txBody>
          <a:bodyPr wrap="square" lIns="0" tIns="0" rIns="0" bIns="0" rtlCol="0" anchor="ctr"/>
          <a:lstStyle/>
          <a:p>
            <a:pPr marL="0" indent="0">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Future Revenue Prediction</a:t>
            </a:r>
            <a:endParaRPr lang="en-US" sz="1150" dirty="0"/>
          </a:p>
        </p:txBody>
      </p:sp>
      <p:sp>
        <p:nvSpPr>
          <p:cNvPr id="25" name="Shape 22"/>
          <p:cNvSpPr/>
          <p:nvPr/>
        </p:nvSpPr>
        <p:spPr>
          <a:xfrm>
            <a:off x="548640" y="4800600"/>
            <a:ext cx="11091672" cy="1325880"/>
          </a:xfrm>
          <a:prstGeom prst="roundRect">
            <a:avLst>
              <a:gd name="adj" fmla="val 5517"/>
            </a:avLst>
          </a:prstGeom>
          <a:solidFill>
            <a:srgbClr val="1E2B4D"/>
          </a:solidFill>
          <a:effectLst>
            <a:outerShdw blurRad="127000" dist="38100" dir="5400000" algn="bl" rotWithShape="0">
              <a:srgbClr val="000000">
                <a:alpha val="35000"/>
              </a:srgbClr>
            </a:outerShdw>
          </a:effectLst>
        </p:spPr>
      </p:sp>
      <p:sp>
        <p:nvSpPr>
          <p:cNvPr id="26" name="Text 23"/>
          <p:cNvSpPr/>
          <p:nvPr/>
        </p:nvSpPr>
        <p:spPr>
          <a:xfrm>
            <a:off x="777240" y="4937760"/>
            <a:ext cx="2743200" cy="274320"/>
          </a:xfrm>
          <a:prstGeom prst="rect">
            <a:avLst/>
          </a:prstGeom>
          <a:noFill/>
        </p:spPr>
        <p:txBody>
          <a:bodyPr wrap="square" lIns="0" tIns="0" rIns="0" bIns="0" rtlCol="0" anchor="ctr"/>
          <a:lstStyle/>
          <a:p>
            <a:pPr marL="0" indent="0">
              <a:buNone/>
            </a:pPr>
            <a:r>
              <a:rPr lang="en-US" sz="1300" b="1" dirty="0">
                <a:solidFill>
                  <a:srgbClr val="FFB627"/>
                </a:solidFill>
                <a:latin typeface="Cambria" panose="02040503050406030204" pitchFamily="34" charset="0"/>
                <a:ea typeface="Cambria" panose="02040503050406030204" pitchFamily="34" charset="-122"/>
                <a:cs typeface="Cambria" panose="02040503050406030204" pitchFamily="34" charset="-120"/>
              </a:rPr>
              <a:t>Key Insight</a:t>
            </a:r>
            <a:endParaRPr lang="en-US" sz="1300" dirty="0"/>
          </a:p>
        </p:txBody>
      </p:sp>
      <p:sp>
        <p:nvSpPr>
          <p:cNvPr id="27" name="Text 24"/>
          <p:cNvSpPr/>
          <p:nvPr/>
        </p:nvSpPr>
        <p:spPr>
          <a:xfrm>
            <a:off x="777240" y="5230368"/>
            <a:ext cx="5943600" cy="777240"/>
          </a:xfrm>
          <a:prstGeom prst="rect">
            <a:avLst/>
          </a:prstGeom>
          <a:noFill/>
        </p:spPr>
        <p:txBody>
          <a:bodyPr wrap="square" lIns="0" tIns="0" rIns="0" bIns="0" rtlCol="0" anchor="ctr"/>
          <a:lstStyle/>
          <a:p>
            <a:pPr marL="0" indent="0">
              <a:lnSpc>
                <a:spcPct val="120000"/>
              </a:lnSpc>
              <a:buNone/>
            </a:pPr>
            <a:r>
              <a:rPr lang="en-US" sz="1150" i="1" dirty="0">
                <a:solidFill>
                  <a:srgbClr val="E8ECF4"/>
                </a:solidFill>
                <a:latin typeface="Calibri" panose="020F0502020204030204" pitchFamily="34" charset="0"/>
                <a:ea typeface="Calibri" panose="020F0502020204030204" pitchFamily="34" charset="-122"/>
                <a:cs typeface="Calibri" panose="020F0502020204030204" pitchFamily="34" charset="-120"/>
              </a:rPr>
              <a:t>The forecast identifies expected future sales trends, enabling proactive business planning across inventory, budget, and demand.</a:t>
            </a:r>
            <a:endParaRPr lang="en-US" sz="1150" dirty="0"/>
          </a:p>
        </p:txBody>
      </p:sp>
      <p:sp>
        <p:nvSpPr>
          <p:cNvPr id="28" name="Text 25"/>
          <p:cNvSpPr/>
          <p:nvPr/>
        </p:nvSpPr>
        <p:spPr>
          <a:xfrm>
            <a:off x="6995160" y="4956048"/>
            <a:ext cx="4480560" cy="256032"/>
          </a:xfrm>
          <a:prstGeom prst="rect">
            <a:avLst/>
          </a:prstGeom>
          <a:noFill/>
        </p:spPr>
        <p:txBody>
          <a:bodyPr wrap="square" lIns="0" tIns="0" rIns="0" bIns="0" rtlCol="0" anchor="ctr"/>
          <a:lstStyle/>
          <a:p>
            <a:pPr marL="0" indent="0">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  Inventory planning</a:t>
            </a:r>
            <a:endParaRPr lang="en-US" sz="1050" dirty="0"/>
          </a:p>
        </p:txBody>
      </p:sp>
      <p:sp>
        <p:nvSpPr>
          <p:cNvPr id="29" name="Text 26"/>
          <p:cNvSpPr/>
          <p:nvPr/>
        </p:nvSpPr>
        <p:spPr>
          <a:xfrm>
            <a:off x="6995160" y="5248656"/>
            <a:ext cx="4480560" cy="256032"/>
          </a:xfrm>
          <a:prstGeom prst="rect">
            <a:avLst/>
          </a:prstGeom>
          <a:noFill/>
        </p:spPr>
        <p:txBody>
          <a:bodyPr wrap="square" lIns="0" tIns="0" rIns="0" bIns="0" rtlCol="0" anchor="ctr"/>
          <a:lstStyle/>
          <a:p>
            <a:pPr marL="0" indent="0">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  Financial planning</a:t>
            </a:r>
            <a:endParaRPr lang="en-US" sz="1050" dirty="0"/>
          </a:p>
        </p:txBody>
      </p:sp>
      <p:sp>
        <p:nvSpPr>
          <p:cNvPr id="30" name="Text 27"/>
          <p:cNvSpPr/>
          <p:nvPr/>
        </p:nvSpPr>
        <p:spPr>
          <a:xfrm>
            <a:off x="6995160" y="5541264"/>
            <a:ext cx="4480560" cy="256032"/>
          </a:xfrm>
          <a:prstGeom prst="rect">
            <a:avLst/>
          </a:prstGeom>
          <a:noFill/>
        </p:spPr>
        <p:txBody>
          <a:bodyPr wrap="square" lIns="0" tIns="0" rIns="0" bIns="0" rtlCol="0" anchor="ctr"/>
          <a:lstStyle/>
          <a:p>
            <a:pPr marL="0" indent="0">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  Demand forecasting</a:t>
            </a:r>
            <a:endParaRPr lang="en-US" sz="1050" dirty="0"/>
          </a:p>
        </p:txBody>
      </p:sp>
      <p:sp>
        <p:nvSpPr>
          <p:cNvPr id="31" name="Text 28"/>
          <p:cNvSpPr/>
          <p:nvPr/>
        </p:nvSpPr>
        <p:spPr>
          <a:xfrm>
            <a:off x="6995160" y="5833872"/>
            <a:ext cx="4480560" cy="256032"/>
          </a:xfrm>
          <a:prstGeom prst="rect">
            <a:avLst/>
          </a:prstGeom>
          <a:noFill/>
        </p:spPr>
        <p:txBody>
          <a:bodyPr wrap="square" lIns="0" tIns="0" rIns="0" bIns="0" rtlCol="0" anchor="ctr"/>
          <a:lstStyle/>
          <a:p>
            <a:pPr marL="0" indent="0">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  Budget estimation</a:t>
            </a:r>
            <a:endParaRPr lang="en-US" sz="1050" dirty="0"/>
          </a:p>
        </p:txBody>
      </p:sp>
      <p:sp>
        <p:nvSpPr>
          <p:cNvPr id="33" name="Text 29"/>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34" name="Text 30"/>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 Models</a:t>
            </a:r>
            <a:endParaRPr lang="en-US" sz="3000" dirty="0"/>
          </a:p>
        </p:txBody>
      </p:sp>
      <p:sp>
        <p:nvSpPr>
          <p:cNvPr id="4" name="Shape 2"/>
          <p:cNvSpPr/>
          <p:nvPr/>
        </p:nvSpPr>
        <p:spPr>
          <a:xfrm>
            <a:off x="548640" y="1554480"/>
            <a:ext cx="3529584" cy="2880360"/>
          </a:xfrm>
          <a:prstGeom prst="roundRect">
            <a:avLst>
              <a:gd name="adj" fmla="val 2540"/>
            </a:avLst>
          </a:prstGeom>
          <a:solidFill>
            <a:srgbClr val="16213E"/>
          </a:solidFill>
          <a:effectLst>
            <a:outerShdw blurRad="127000" dist="38100" dir="5400000" algn="bl" rotWithShape="0">
              <a:srgbClr val="000000">
                <a:alpha val="35000"/>
              </a:srgbClr>
            </a:outerShdw>
          </a:effectLst>
        </p:spPr>
      </p:sp>
      <p:sp>
        <p:nvSpPr>
          <p:cNvPr id="5" name="Shape 3"/>
          <p:cNvSpPr/>
          <p:nvPr/>
        </p:nvSpPr>
        <p:spPr>
          <a:xfrm>
            <a:off x="822960" y="1828800"/>
            <a:ext cx="566928" cy="566928"/>
          </a:xfrm>
          <a:prstGeom prst="ellipse">
            <a:avLst/>
          </a:prstGeom>
          <a:solidFill>
            <a:srgbClr val="5BC0BE"/>
          </a:solidFill>
        </p:spPr>
      </p:sp>
      <p:sp>
        <p:nvSpPr>
          <p:cNvPr id="6" name="Text 4"/>
          <p:cNvSpPr/>
          <p:nvPr/>
        </p:nvSpPr>
        <p:spPr>
          <a:xfrm>
            <a:off x="822960" y="1828800"/>
            <a:ext cx="566928" cy="566928"/>
          </a:xfrm>
          <a:prstGeom prst="rect">
            <a:avLst/>
          </a:prstGeom>
          <a:noFill/>
        </p:spPr>
        <p:txBody>
          <a:bodyPr wrap="square" rtlCol="0" anchor="ctr"/>
          <a:lstStyle/>
          <a:p>
            <a:pPr marL="0" indent="0" algn="ctr">
              <a:buNone/>
            </a:pPr>
            <a:r>
              <a:rPr lang="en-US" sz="2000" b="1" dirty="0">
                <a:solidFill>
                  <a:srgbClr val="0B132B"/>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7" name="Text 5"/>
          <p:cNvSpPr/>
          <p:nvPr/>
        </p:nvSpPr>
        <p:spPr>
          <a:xfrm>
            <a:off x="822960" y="2560320"/>
            <a:ext cx="2980944" cy="274320"/>
          </a:xfrm>
          <a:prstGeom prst="rect">
            <a:avLst/>
          </a:prstGeom>
          <a:noFill/>
        </p:spPr>
        <p:txBody>
          <a:bodyPr wrap="square" lIns="0" tIns="0" rIns="0" bIns="0" rtlCol="0" anchor="ctr"/>
          <a:lstStyle/>
          <a:p>
            <a:pPr marL="0" indent="0">
              <a:buNone/>
            </a:pPr>
            <a:r>
              <a:rPr lang="en-US" sz="1050" b="1" kern="0" spc="100" dirty="0">
                <a:solidFill>
                  <a:srgbClr val="5BC0BE"/>
                </a:solidFill>
                <a:latin typeface="Calibri" panose="020F0502020204030204" pitchFamily="34" charset="0"/>
                <a:ea typeface="Calibri" panose="020F0502020204030204" pitchFamily="34" charset="-122"/>
                <a:cs typeface="Calibri" panose="020F0502020204030204" pitchFamily="34" charset="-120"/>
              </a:rPr>
              <a:t>Customer Segmentation</a:t>
            </a:r>
            <a:endParaRPr lang="en-US" sz="1050" dirty="0"/>
          </a:p>
        </p:txBody>
      </p:sp>
      <p:sp>
        <p:nvSpPr>
          <p:cNvPr id="8" name="Text 6"/>
          <p:cNvSpPr/>
          <p:nvPr/>
        </p:nvSpPr>
        <p:spPr>
          <a:xfrm>
            <a:off x="822960" y="2816352"/>
            <a:ext cx="2980944" cy="411480"/>
          </a:xfrm>
          <a:prstGeom prst="rect">
            <a:avLst/>
          </a:prstGeom>
          <a:noFill/>
        </p:spPr>
        <p:txBody>
          <a:bodyPr wrap="square" lIns="0" tIns="0" rIns="0" bIns="0"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RFM Analysis</a:t>
            </a:r>
            <a:endParaRPr lang="en-US" sz="1700" dirty="0"/>
          </a:p>
        </p:txBody>
      </p:sp>
      <p:sp>
        <p:nvSpPr>
          <p:cNvPr id="9" name="Text 7"/>
          <p:cNvSpPr/>
          <p:nvPr/>
        </p:nvSpPr>
        <p:spPr>
          <a:xfrm>
            <a:off x="822960" y="3337560"/>
            <a:ext cx="2980944" cy="1005840"/>
          </a:xfrm>
          <a:prstGeom prst="rect">
            <a:avLst/>
          </a:prstGeom>
          <a:noFill/>
        </p:spPr>
        <p:txBody>
          <a:bodyPr wrap="square" lIns="0" tIns="0" rIns="0" bIns="0" rtlCol="0" anchor="ctr"/>
          <a:lstStyle/>
          <a:p>
            <a:pPr marL="0" indent="0">
              <a:lnSpc>
                <a:spcPct val="125000"/>
              </a:lnSpc>
              <a:buNone/>
            </a:pPr>
            <a:r>
              <a:rPr lang="en-US" sz="1150" dirty="0">
                <a:solidFill>
                  <a:srgbClr val="8D9AB8"/>
                </a:solidFill>
                <a:latin typeface="Calibri" panose="020F0502020204030204" pitchFamily="34" charset="0"/>
                <a:ea typeface="Calibri" panose="020F0502020204030204" pitchFamily="34" charset="-122"/>
                <a:cs typeface="Calibri" panose="020F0502020204030204" pitchFamily="34" charset="-120"/>
              </a:rPr>
              <a:t>Identifies valuable customer groups by recency, frequency &amp; monetary value.</a:t>
            </a:r>
            <a:endParaRPr lang="en-US" sz="1150" dirty="0"/>
          </a:p>
        </p:txBody>
      </p:sp>
      <p:sp>
        <p:nvSpPr>
          <p:cNvPr id="10" name="Shape 8"/>
          <p:cNvSpPr/>
          <p:nvPr/>
        </p:nvSpPr>
        <p:spPr>
          <a:xfrm>
            <a:off x="4325112" y="1554480"/>
            <a:ext cx="3529584" cy="2880360"/>
          </a:xfrm>
          <a:prstGeom prst="roundRect">
            <a:avLst>
              <a:gd name="adj" fmla="val 2540"/>
            </a:avLst>
          </a:prstGeom>
          <a:solidFill>
            <a:srgbClr val="16213E"/>
          </a:solidFill>
          <a:effectLst>
            <a:outerShdw blurRad="127000" dist="38100" dir="5400000" algn="bl" rotWithShape="0">
              <a:srgbClr val="000000">
                <a:alpha val="35000"/>
              </a:srgbClr>
            </a:outerShdw>
          </a:effectLst>
        </p:spPr>
      </p:sp>
      <p:sp>
        <p:nvSpPr>
          <p:cNvPr id="11" name="Shape 9"/>
          <p:cNvSpPr/>
          <p:nvPr/>
        </p:nvSpPr>
        <p:spPr>
          <a:xfrm>
            <a:off x="4599432" y="1828800"/>
            <a:ext cx="566928" cy="566928"/>
          </a:xfrm>
          <a:prstGeom prst="ellipse">
            <a:avLst/>
          </a:prstGeom>
          <a:solidFill>
            <a:srgbClr val="5BC0BE"/>
          </a:solidFill>
        </p:spPr>
      </p:sp>
      <p:sp>
        <p:nvSpPr>
          <p:cNvPr id="12" name="Text 10"/>
          <p:cNvSpPr/>
          <p:nvPr/>
        </p:nvSpPr>
        <p:spPr>
          <a:xfrm>
            <a:off x="4599432" y="1828800"/>
            <a:ext cx="566928" cy="566928"/>
          </a:xfrm>
          <a:prstGeom prst="rect">
            <a:avLst/>
          </a:prstGeom>
          <a:noFill/>
        </p:spPr>
        <p:txBody>
          <a:bodyPr wrap="square" rtlCol="0" anchor="ctr"/>
          <a:lstStyle/>
          <a:p>
            <a:pPr marL="0" indent="0" algn="ctr">
              <a:buNone/>
            </a:pPr>
            <a:r>
              <a:rPr lang="en-US" sz="2000" b="1" dirty="0">
                <a:solidFill>
                  <a:srgbClr val="0B132B"/>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3" name="Text 11"/>
          <p:cNvSpPr/>
          <p:nvPr/>
        </p:nvSpPr>
        <p:spPr>
          <a:xfrm>
            <a:off x="4599432" y="2560320"/>
            <a:ext cx="2980944" cy="274320"/>
          </a:xfrm>
          <a:prstGeom prst="rect">
            <a:avLst/>
          </a:prstGeom>
          <a:noFill/>
        </p:spPr>
        <p:txBody>
          <a:bodyPr wrap="square" lIns="0" tIns="0" rIns="0" bIns="0" rtlCol="0" anchor="ctr"/>
          <a:lstStyle/>
          <a:p>
            <a:pPr marL="0" indent="0">
              <a:buNone/>
            </a:pPr>
            <a:r>
              <a:rPr lang="en-US" sz="1050" b="1" kern="0" spc="100" dirty="0">
                <a:solidFill>
                  <a:srgbClr val="5BC0BE"/>
                </a:solidFill>
                <a:latin typeface="Calibri" panose="020F0502020204030204" pitchFamily="34" charset="0"/>
                <a:ea typeface="Calibri" panose="020F0502020204030204" pitchFamily="34" charset="-122"/>
                <a:cs typeface="Calibri" panose="020F0502020204030204" pitchFamily="34" charset="-120"/>
              </a:rPr>
              <a:t>Customer Churn Prediction</a:t>
            </a:r>
            <a:endParaRPr lang="en-US" sz="1050" dirty="0"/>
          </a:p>
        </p:txBody>
      </p:sp>
      <p:sp>
        <p:nvSpPr>
          <p:cNvPr id="14" name="Text 12"/>
          <p:cNvSpPr/>
          <p:nvPr/>
        </p:nvSpPr>
        <p:spPr>
          <a:xfrm>
            <a:off x="4599432" y="2816352"/>
            <a:ext cx="2980944" cy="411480"/>
          </a:xfrm>
          <a:prstGeom prst="rect">
            <a:avLst/>
          </a:prstGeom>
          <a:noFill/>
        </p:spPr>
        <p:txBody>
          <a:bodyPr wrap="square" lIns="0" tIns="0" rIns="0" bIns="0"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Random Forest</a:t>
            </a:r>
            <a:endParaRPr lang="en-US" sz="1700" dirty="0"/>
          </a:p>
        </p:txBody>
      </p:sp>
      <p:sp>
        <p:nvSpPr>
          <p:cNvPr id="15" name="Text 13"/>
          <p:cNvSpPr/>
          <p:nvPr/>
        </p:nvSpPr>
        <p:spPr>
          <a:xfrm>
            <a:off x="4599432" y="3337560"/>
            <a:ext cx="2980944" cy="1005840"/>
          </a:xfrm>
          <a:prstGeom prst="rect">
            <a:avLst/>
          </a:prstGeom>
          <a:noFill/>
        </p:spPr>
        <p:txBody>
          <a:bodyPr wrap="square" lIns="0" tIns="0" rIns="0" bIns="0" rtlCol="0" anchor="ctr"/>
          <a:lstStyle/>
          <a:p>
            <a:pPr marL="0" indent="0">
              <a:lnSpc>
                <a:spcPct val="125000"/>
              </a:lnSpc>
              <a:buNone/>
            </a:pPr>
            <a:r>
              <a:rPr lang="en-US" sz="1150" dirty="0">
                <a:solidFill>
                  <a:srgbClr val="8D9AB8"/>
                </a:solidFill>
                <a:latin typeface="Calibri" panose="020F0502020204030204" pitchFamily="34" charset="0"/>
                <a:ea typeface="Calibri" panose="020F0502020204030204" pitchFamily="34" charset="-122"/>
                <a:cs typeface="Calibri" panose="020F0502020204030204" pitchFamily="34" charset="-120"/>
              </a:rPr>
              <a:t>Predicts customers likely to stop purchasing before they leave.</a:t>
            </a:r>
            <a:endParaRPr lang="en-US" sz="1150" dirty="0"/>
          </a:p>
        </p:txBody>
      </p:sp>
      <p:sp>
        <p:nvSpPr>
          <p:cNvPr id="16" name="Shape 14"/>
          <p:cNvSpPr/>
          <p:nvPr/>
        </p:nvSpPr>
        <p:spPr>
          <a:xfrm>
            <a:off x="8101584" y="1554480"/>
            <a:ext cx="3529584" cy="2880360"/>
          </a:xfrm>
          <a:prstGeom prst="roundRect">
            <a:avLst>
              <a:gd name="adj" fmla="val 2540"/>
            </a:avLst>
          </a:prstGeom>
          <a:solidFill>
            <a:srgbClr val="16213E"/>
          </a:solidFill>
          <a:effectLst>
            <a:outerShdw blurRad="127000" dist="38100" dir="5400000" algn="bl" rotWithShape="0">
              <a:srgbClr val="000000">
                <a:alpha val="35000"/>
              </a:srgbClr>
            </a:outerShdw>
          </a:effectLst>
        </p:spPr>
      </p:sp>
      <p:sp>
        <p:nvSpPr>
          <p:cNvPr id="17" name="Shape 15"/>
          <p:cNvSpPr/>
          <p:nvPr/>
        </p:nvSpPr>
        <p:spPr>
          <a:xfrm>
            <a:off x="8375904" y="1828800"/>
            <a:ext cx="566928" cy="566928"/>
          </a:xfrm>
          <a:prstGeom prst="ellipse">
            <a:avLst/>
          </a:prstGeom>
          <a:solidFill>
            <a:srgbClr val="5BC0BE"/>
          </a:solidFill>
        </p:spPr>
      </p:sp>
      <p:sp>
        <p:nvSpPr>
          <p:cNvPr id="18" name="Text 16"/>
          <p:cNvSpPr/>
          <p:nvPr/>
        </p:nvSpPr>
        <p:spPr>
          <a:xfrm>
            <a:off x="8375904" y="1828800"/>
            <a:ext cx="566928" cy="566928"/>
          </a:xfrm>
          <a:prstGeom prst="rect">
            <a:avLst/>
          </a:prstGeom>
          <a:noFill/>
        </p:spPr>
        <p:txBody>
          <a:bodyPr wrap="square" rtlCol="0" anchor="ctr"/>
          <a:lstStyle/>
          <a:p>
            <a:pPr marL="0" indent="0" algn="ctr">
              <a:buNone/>
            </a:pPr>
            <a:r>
              <a:rPr lang="en-US" sz="2000" b="1" dirty="0">
                <a:solidFill>
                  <a:srgbClr val="0B132B"/>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9" name="Text 17"/>
          <p:cNvSpPr/>
          <p:nvPr/>
        </p:nvSpPr>
        <p:spPr>
          <a:xfrm>
            <a:off x="8375904" y="2560320"/>
            <a:ext cx="2980944" cy="274320"/>
          </a:xfrm>
          <a:prstGeom prst="rect">
            <a:avLst/>
          </a:prstGeom>
          <a:noFill/>
        </p:spPr>
        <p:txBody>
          <a:bodyPr wrap="square" lIns="0" tIns="0" rIns="0" bIns="0" rtlCol="0" anchor="ctr"/>
          <a:lstStyle/>
          <a:p>
            <a:pPr marL="0" indent="0">
              <a:buNone/>
            </a:pPr>
            <a:r>
              <a:rPr lang="en-US" sz="1050" b="1" kern="0" spc="100" dirty="0">
                <a:solidFill>
                  <a:srgbClr val="5BC0BE"/>
                </a:solidFill>
                <a:latin typeface="Calibri" panose="020F0502020204030204" pitchFamily="34" charset="0"/>
                <a:ea typeface="Calibri" panose="020F0502020204030204" pitchFamily="34" charset="-122"/>
                <a:cs typeface="Calibri" panose="020F0502020204030204" pitchFamily="34" charset="-120"/>
              </a:rPr>
              <a:t>Revenue Forecasting</a:t>
            </a:r>
            <a:endParaRPr lang="en-US" sz="1050" dirty="0"/>
          </a:p>
        </p:txBody>
      </p:sp>
      <p:sp>
        <p:nvSpPr>
          <p:cNvPr id="20" name="Text 18"/>
          <p:cNvSpPr/>
          <p:nvPr/>
        </p:nvSpPr>
        <p:spPr>
          <a:xfrm>
            <a:off x="8375904" y="2816352"/>
            <a:ext cx="2980944" cy="411480"/>
          </a:xfrm>
          <a:prstGeom prst="rect">
            <a:avLst/>
          </a:prstGeom>
          <a:noFill/>
        </p:spPr>
        <p:txBody>
          <a:bodyPr wrap="square" lIns="0" tIns="0" rIns="0" bIns="0"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Facebook Prophet</a:t>
            </a:r>
            <a:endParaRPr lang="en-US" sz="1700" dirty="0"/>
          </a:p>
        </p:txBody>
      </p:sp>
      <p:sp>
        <p:nvSpPr>
          <p:cNvPr id="21" name="Text 19"/>
          <p:cNvSpPr/>
          <p:nvPr/>
        </p:nvSpPr>
        <p:spPr>
          <a:xfrm>
            <a:off x="8375904" y="3337560"/>
            <a:ext cx="2980944" cy="1005840"/>
          </a:xfrm>
          <a:prstGeom prst="rect">
            <a:avLst/>
          </a:prstGeom>
          <a:noFill/>
        </p:spPr>
        <p:txBody>
          <a:bodyPr wrap="square" lIns="0" tIns="0" rIns="0" bIns="0" rtlCol="0" anchor="ctr"/>
          <a:lstStyle/>
          <a:p>
            <a:pPr marL="0" indent="0">
              <a:lnSpc>
                <a:spcPct val="125000"/>
              </a:lnSpc>
              <a:buNone/>
            </a:pPr>
            <a:r>
              <a:rPr lang="en-US" sz="1150" dirty="0">
                <a:solidFill>
                  <a:srgbClr val="8D9AB8"/>
                </a:solidFill>
                <a:latin typeface="Calibri" panose="020F0502020204030204" pitchFamily="34" charset="0"/>
                <a:ea typeface="Calibri" panose="020F0502020204030204" pitchFamily="34" charset="-122"/>
                <a:cs typeface="Calibri" panose="020F0502020204030204" pitchFamily="34" charset="-120"/>
              </a:rPr>
              <a:t>Forecasts future business revenue using time-series analysis.</a:t>
            </a:r>
            <a:endParaRPr lang="en-US" sz="1150" dirty="0"/>
          </a:p>
        </p:txBody>
      </p:sp>
      <p:sp>
        <p:nvSpPr>
          <p:cNvPr id="22" name="Shape 20"/>
          <p:cNvSpPr/>
          <p:nvPr/>
        </p:nvSpPr>
        <p:spPr>
          <a:xfrm>
            <a:off x="548640" y="4709160"/>
            <a:ext cx="11091672" cy="1417320"/>
          </a:xfrm>
          <a:prstGeom prst="roundRect">
            <a:avLst>
              <a:gd name="adj" fmla="val 5161"/>
            </a:avLst>
          </a:prstGeom>
          <a:solidFill>
            <a:srgbClr val="1E2B4D"/>
          </a:solidFill>
          <a:effectLst>
            <a:outerShdw blurRad="127000" dist="38100" dir="5400000" algn="bl" rotWithShape="0">
              <a:srgbClr val="000000">
                <a:alpha val="35000"/>
              </a:srgbClr>
            </a:outerShdw>
          </a:effectLst>
        </p:spPr>
      </p:sp>
      <p:sp>
        <p:nvSpPr>
          <p:cNvPr id="23" name="Text 21"/>
          <p:cNvSpPr/>
          <p:nvPr/>
        </p:nvSpPr>
        <p:spPr>
          <a:xfrm>
            <a:off x="777240" y="4864608"/>
            <a:ext cx="2743200" cy="274320"/>
          </a:xfrm>
          <a:prstGeom prst="rect">
            <a:avLst/>
          </a:prstGeom>
          <a:noFill/>
        </p:spPr>
        <p:txBody>
          <a:bodyPr wrap="square" lIns="0" tIns="0" rIns="0" bIns="0" rtlCol="0" anchor="ctr"/>
          <a:lstStyle/>
          <a:p>
            <a:pPr marL="0" indent="0">
              <a:buNone/>
            </a:pPr>
            <a:r>
              <a:rPr lang="en-US" sz="1300" b="1" dirty="0">
                <a:solidFill>
                  <a:srgbClr val="FFB627"/>
                </a:solidFill>
                <a:latin typeface="Cambria" panose="02040503050406030204" pitchFamily="34" charset="0"/>
                <a:ea typeface="Cambria" panose="02040503050406030204" pitchFamily="34" charset="-122"/>
                <a:cs typeface="Cambria" panose="02040503050406030204" pitchFamily="34" charset="-120"/>
              </a:rPr>
              <a:t>Business Value</a:t>
            </a:r>
            <a:endParaRPr lang="en-US" sz="1300" dirty="0"/>
          </a:p>
        </p:txBody>
      </p:sp>
      <p:sp>
        <p:nvSpPr>
          <p:cNvPr id="24" name="Text 22"/>
          <p:cNvSpPr/>
          <p:nvPr/>
        </p:nvSpPr>
        <p:spPr>
          <a:xfrm>
            <a:off x="777240" y="5166360"/>
            <a:ext cx="10607040" cy="822960"/>
          </a:xfrm>
          <a:prstGeom prst="rect">
            <a:avLst/>
          </a:prstGeom>
          <a:noFill/>
        </p:spPr>
        <p:txBody>
          <a:bodyPr wrap="square" lIns="0" tIns="0" rIns="0" bIns="0" rtlCol="0" anchor="ctr"/>
          <a:lstStyle/>
          <a:p>
            <a:pPr marL="0" indent="0">
              <a:lnSpc>
                <a:spcPct val="125000"/>
              </a:lnSpc>
              <a:buNone/>
            </a:pPr>
            <a:r>
              <a:rPr lang="en-US" sz="1250" i="1" dirty="0">
                <a:solidFill>
                  <a:srgbClr val="E8ECF4"/>
                </a:solidFill>
                <a:latin typeface="Calibri" panose="020F0502020204030204" pitchFamily="34" charset="0"/>
                <a:ea typeface="Calibri" panose="020F0502020204030204" pitchFamily="34" charset="-122"/>
                <a:cs typeface="Calibri" panose="020F0502020204030204" pitchFamily="34" charset="-120"/>
              </a:rPr>
              <a:t>Together, these three models transform historical retail data into actionable business insight — supporting better customer retention, sharper marketing, and stronger strategic planning.</a:t>
            </a:r>
            <a:endParaRPr lang="en-US" sz="1250" dirty="0"/>
          </a:p>
        </p:txBody>
      </p:sp>
      <p:sp>
        <p:nvSpPr>
          <p:cNvPr id="26" name="Text 23"/>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27" name="Text 24"/>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WHAT THE DATA TELLS US</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Key Business Insights</a:t>
            </a:r>
            <a:endParaRPr lang="en-US" sz="3000" dirty="0"/>
          </a:p>
        </p:txBody>
      </p:sp>
      <p:sp>
        <p:nvSpPr>
          <p:cNvPr id="4" name="Shape 2"/>
          <p:cNvSpPr/>
          <p:nvPr/>
        </p:nvSpPr>
        <p:spPr>
          <a:xfrm>
            <a:off x="493776" y="1453896"/>
            <a:ext cx="6099048" cy="2617756"/>
          </a:xfrm>
          <a:prstGeom prst="roundRect">
            <a:avLst>
              <a:gd name="adj" fmla="val 2096"/>
            </a:avLst>
          </a:prstGeom>
          <a:solidFill>
            <a:srgbClr val="0A0F24"/>
          </a:solidFill>
          <a:ln w="12700">
            <a:solidFill>
              <a:srgbClr val="2C3A63"/>
            </a:solidFill>
            <a:prstDash val="solid"/>
          </a:ln>
          <a:effectLst>
            <a:outerShdw blurRad="177800" dist="50800" dir="5400000" algn="bl" rotWithShape="0">
              <a:srgbClr val="000000">
                <a:alpha val="45000"/>
              </a:srgbClr>
            </a:outerShdw>
          </a:effectLst>
        </p:spPr>
      </p:sp>
      <p:pic>
        <p:nvPicPr>
          <p:cNvPr id="5" name="Image 0" descr="/home/claude/proj2/images/summary_dashboard.jpg"/>
          <p:cNvPicPr>
            <a:picLocks noChangeAspect="1"/>
          </p:cNvPicPr>
          <p:nvPr/>
        </p:nvPicPr>
        <p:blipFill>
          <a:blip r:embed="rId1"/>
          <a:srcRect/>
          <a:stretch>
            <a:fillRect/>
          </a:stretch>
        </p:blipFill>
        <p:spPr>
          <a:xfrm>
            <a:off x="548640" y="1508760"/>
            <a:ext cx="5989320" cy="2508028"/>
          </a:xfrm>
          <a:prstGeom prst="rect">
            <a:avLst/>
          </a:prstGeom>
        </p:spPr>
      </p:pic>
      <p:sp>
        <p:nvSpPr>
          <p:cNvPr id="6" name="Text 3"/>
          <p:cNvSpPr/>
          <p:nvPr/>
        </p:nvSpPr>
        <p:spPr>
          <a:xfrm>
            <a:off x="6903720" y="1508760"/>
            <a:ext cx="4754880" cy="274320"/>
          </a:xfrm>
          <a:prstGeom prst="rect">
            <a:avLst/>
          </a:prstGeom>
          <a:noFill/>
        </p:spPr>
        <p:txBody>
          <a:bodyPr wrap="square" lIns="0" tIns="0" rIns="0" bIns="0" rtlCol="0" anchor="ctr"/>
          <a:lstStyle/>
          <a:p>
            <a:pPr marL="0" indent="0">
              <a:buNone/>
            </a:pPr>
            <a:r>
              <a:rPr lang="en-US" sz="1400" b="1" dirty="0">
                <a:solidFill>
                  <a:srgbClr val="5BC0BE"/>
                </a:solidFill>
                <a:latin typeface="Cambria" panose="02040503050406030204" pitchFamily="34" charset="0"/>
                <a:ea typeface="Cambria" panose="02040503050406030204" pitchFamily="34" charset="-122"/>
                <a:cs typeface="Cambria" panose="02040503050406030204" pitchFamily="34" charset="-120"/>
              </a:rPr>
              <a:t>Major Findings</a:t>
            </a:r>
            <a:endParaRPr lang="en-US" sz="1400" dirty="0"/>
          </a:p>
        </p:txBody>
      </p:sp>
      <p:sp>
        <p:nvSpPr>
          <p:cNvPr id="7" name="Text 4"/>
          <p:cNvSpPr/>
          <p:nvPr/>
        </p:nvSpPr>
        <p:spPr>
          <a:xfrm>
            <a:off x="6903720" y="1828800"/>
            <a:ext cx="4754880" cy="2377440"/>
          </a:xfrm>
          <a:prstGeom prst="rect">
            <a:avLst/>
          </a:prstGeom>
          <a:noFill/>
        </p:spPr>
        <p:txBody>
          <a:bodyPr wrap="square" lIns="0" tIns="0" rIns="0" bIns="0" rtlCol="0" anchor="t"/>
          <a:lstStyle/>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UK generated the highest revenue by a wide margin</a:t>
            </a:r>
            <a:endParaRPr lang="en-US" sz="1130" dirty="0"/>
          </a:p>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VIP customers contribute the highest revenue per customer</a:t>
            </a:r>
            <a:endParaRPr lang="en-US" sz="1130" dirty="0"/>
          </a:p>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Sales show clear seasonal trends</a:t>
            </a:r>
            <a:endParaRPr lang="en-US" sz="1130" dirty="0"/>
          </a:p>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Segmentation surfaces high-value customers</a:t>
            </a:r>
            <a:endParaRPr lang="en-US" sz="1130" dirty="0"/>
          </a:p>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Churn prediction enables proactive retention</a:t>
            </a:r>
            <a:endParaRPr lang="en-US" sz="1130" dirty="0"/>
          </a:p>
          <a:p>
            <a:pPr marL="177800" indent="-177800">
              <a:spcAft>
                <a:spcPts val="700"/>
              </a:spcAft>
              <a:buSzPct val="100000"/>
              <a:buChar char="▪"/>
            </a:pPr>
            <a:r>
              <a:rPr lang="en-US" sz="1130" dirty="0">
                <a:solidFill>
                  <a:srgbClr val="E8ECF4"/>
                </a:solidFill>
                <a:latin typeface="Calibri" panose="020F0502020204030204" pitchFamily="34" charset="0"/>
                <a:ea typeface="Calibri" panose="020F0502020204030204" pitchFamily="34" charset="-122"/>
                <a:cs typeface="Calibri" panose="020F0502020204030204" pitchFamily="34" charset="-120"/>
              </a:rPr>
              <a:t>Forecasting supports future planning</a:t>
            </a:r>
            <a:endParaRPr lang="en-US" sz="1130" dirty="0"/>
          </a:p>
        </p:txBody>
      </p:sp>
      <p:sp>
        <p:nvSpPr>
          <p:cNvPr id="8" name="Shape 5"/>
          <p:cNvSpPr/>
          <p:nvPr/>
        </p:nvSpPr>
        <p:spPr>
          <a:xfrm>
            <a:off x="548640" y="4846320"/>
            <a:ext cx="11091672" cy="1280160"/>
          </a:xfrm>
          <a:prstGeom prst="roundRect">
            <a:avLst>
              <a:gd name="adj" fmla="val 5714"/>
            </a:avLst>
          </a:prstGeom>
          <a:solidFill>
            <a:srgbClr val="1E2B4D"/>
          </a:solidFill>
          <a:effectLst>
            <a:outerShdw blurRad="127000" dist="38100" dir="5400000" algn="bl" rotWithShape="0">
              <a:srgbClr val="000000">
                <a:alpha val="35000"/>
              </a:srgbClr>
            </a:outerShdw>
          </a:effectLst>
        </p:spPr>
      </p:sp>
      <p:sp>
        <p:nvSpPr>
          <p:cNvPr id="9" name="Text 6"/>
          <p:cNvSpPr/>
          <p:nvPr/>
        </p:nvSpPr>
        <p:spPr>
          <a:xfrm>
            <a:off x="777240" y="4983480"/>
            <a:ext cx="2743200" cy="274320"/>
          </a:xfrm>
          <a:prstGeom prst="rect">
            <a:avLst/>
          </a:prstGeom>
          <a:noFill/>
        </p:spPr>
        <p:txBody>
          <a:bodyPr wrap="square" lIns="0" tIns="0" rIns="0" bIns="0" rtlCol="0" anchor="ctr"/>
          <a:lstStyle/>
          <a:p>
            <a:pPr marL="0" indent="0">
              <a:buNone/>
            </a:pPr>
            <a:r>
              <a:rPr lang="en-US" sz="1300" b="1" dirty="0">
                <a:solidFill>
                  <a:srgbClr val="FFB627"/>
                </a:solidFill>
                <a:latin typeface="Cambria" panose="02040503050406030204" pitchFamily="34" charset="0"/>
                <a:ea typeface="Cambria" panose="02040503050406030204" pitchFamily="34" charset="-122"/>
                <a:cs typeface="Cambria" panose="02040503050406030204" pitchFamily="34" charset="-120"/>
              </a:rPr>
              <a:t>Business Impact</a:t>
            </a:r>
            <a:endParaRPr lang="en-US" sz="1300" dirty="0"/>
          </a:p>
        </p:txBody>
      </p:sp>
      <p:sp>
        <p:nvSpPr>
          <p:cNvPr id="10" name="Text 7"/>
          <p:cNvSpPr/>
          <p:nvPr/>
        </p:nvSpPr>
        <p:spPr>
          <a:xfrm>
            <a:off x="777240" y="5321808"/>
            <a:ext cx="2057400" cy="685800"/>
          </a:xfrm>
          <a:prstGeom prst="rect">
            <a:avLst/>
          </a:prstGeom>
          <a:noFill/>
        </p:spPr>
        <p:txBody>
          <a:bodyPr wrap="square" lIns="0" tIns="0" rIns="0" bIns="0" rtlCol="0" anchor="t"/>
          <a:lstStyle/>
          <a:p>
            <a:pPr marL="0" indent="0" algn="l">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Better customer targeting</a:t>
            </a:r>
            <a:endParaRPr lang="en-US" sz="1050" dirty="0"/>
          </a:p>
        </p:txBody>
      </p:sp>
      <p:sp>
        <p:nvSpPr>
          <p:cNvPr id="11" name="Text 8"/>
          <p:cNvSpPr/>
          <p:nvPr/>
        </p:nvSpPr>
        <p:spPr>
          <a:xfrm>
            <a:off x="2926080" y="5321808"/>
            <a:ext cx="2057400" cy="685800"/>
          </a:xfrm>
          <a:prstGeom prst="rect">
            <a:avLst/>
          </a:prstGeom>
          <a:noFill/>
        </p:spPr>
        <p:txBody>
          <a:bodyPr wrap="square" lIns="0" tIns="0" rIns="0" bIns="0" rtlCol="0" anchor="t"/>
          <a:lstStyle/>
          <a:p>
            <a:pPr marL="0" indent="0" algn="l">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Improved inventory mgmt.</a:t>
            </a:r>
            <a:endParaRPr lang="en-US" sz="1050" dirty="0"/>
          </a:p>
        </p:txBody>
      </p:sp>
      <p:sp>
        <p:nvSpPr>
          <p:cNvPr id="12" name="Text 9"/>
          <p:cNvSpPr/>
          <p:nvPr/>
        </p:nvSpPr>
        <p:spPr>
          <a:xfrm>
            <a:off x="5074920" y="5321808"/>
            <a:ext cx="2057400" cy="685800"/>
          </a:xfrm>
          <a:prstGeom prst="rect">
            <a:avLst/>
          </a:prstGeom>
          <a:noFill/>
        </p:spPr>
        <p:txBody>
          <a:bodyPr wrap="square" lIns="0" tIns="0" rIns="0" bIns="0" rtlCol="0" anchor="t"/>
          <a:lstStyle/>
          <a:p>
            <a:pPr marL="0" indent="0" algn="l">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Faster decision-making</a:t>
            </a:r>
            <a:endParaRPr lang="en-US" sz="1050" dirty="0"/>
          </a:p>
        </p:txBody>
      </p:sp>
      <p:sp>
        <p:nvSpPr>
          <p:cNvPr id="13" name="Text 10"/>
          <p:cNvSpPr/>
          <p:nvPr/>
        </p:nvSpPr>
        <p:spPr>
          <a:xfrm>
            <a:off x="7223760" y="5321808"/>
            <a:ext cx="2057400" cy="685800"/>
          </a:xfrm>
          <a:prstGeom prst="rect">
            <a:avLst/>
          </a:prstGeom>
          <a:noFill/>
        </p:spPr>
        <p:txBody>
          <a:bodyPr wrap="square" lIns="0" tIns="0" rIns="0" bIns="0" rtlCol="0" anchor="t"/>
          <a:lstStyle/>
          <a:p>
            <a:pPr marL="0" indent="0" algn="l">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Data-driven marketing</a:t>
            </a:r>
            <a:endParaRPr lang="en-US" sz="1050" dirty="0"/>
          </a:p>
        </p:txBody>
      </p:sp>
      <p:sp>
        <p:nvSpPr>
          <p:cNvPr id="14" name="Text 11"/>
          <p:cNvSpPr/>
          <p:nvPr/>
        </p:nvSpPr>
        <p:spPr>
          <a:xfrm>
            <a:off x="9372600" y="5321808"/>
            <a:ext cx="2057400" cy="685800"/>
          </a:xfrm>
          <a:prstGeom prst="rect">
            <a:avLst/>
          </a:prstGeom>
          <a:noFill/>
        </p:spPr>
        <p:txBody>
          <a:bodyPr wrap="square" lIns="0" tIns="0" rIns="0" bIns="0" rtlCol="0" anchor="t"/>
          <a:lstStyle/>
          <a:p>
            <a:pPr marL="0" indent="0" algn="l">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Increased efficiency</a:t>
            </a:r>
            <a:endParaRPr lang="en-US" sz="1050" dirty="0"/>
          </a:p>
        </p:txBody>
      </p:sp>
      <p:sp>
        <p:nvSpPr>
          <p:cNvPr id="16" name="Text 12"/>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17" name="Text 13"/>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ROADBLOCKS &amp; FIXES</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Challenges Faced During the Project</a:t>
            </a:r>
            <a:endParaRPr lang="en-US" sz="3000" dirty="0"/>
          </a:p>
        </p:txBody>
      </p:sp>
      <p:sp>
        <p:nvSpPr>
          <p:cNvPr id="4" name="Shape 2"/>
          <p:cNvSpPr/>
          <p:nvPr/>
        </p:nvSpPr>
        <p:spPr>
          <a:xfrm>
            <a:off x="548640" y="1508760"/>
            <a:ext cx="3529584" cy="3246120"/>
          </a:xfrm>
          <a:prstGeom prst="roundRect">
            <a:avLst>
              <a:gd name="adj" fmla="val 2254"/>
            </a:avLst>
          </a:prstGeom>
          <a:solidFill>
            <a:srgbClr val="16213E"/>
          </a:solidFill>
          <a:effectLst>
            <a:outerShdw blurRad="127000" dist="38100" dir="5400000" algn="bl" rotWithShape="0">
              <a:srgbClr val="000000">
                <a:alpha val="35000"/>
              </a:srgbClr>
            </a:outerShdw>
          </a:effectLst>
        </p:spPr>
      </p:sp>
      <p:sp>
        <p:nvSpPr>
          <p:cNvPr id="5" name="Shape 3"/>
          <p:cNvSpPr/>
          <p:nvPr/>
        </p:nvSpPr>
        <p:spPr>
          <a:xfrm>
            <a:off x="804672" y="1746504"/>
            <a:ext cx="457200" cy="457200"/>
          </a:xfrm>
          <a:prstGeom prst="ellipse">
            <a:avLst/>
          </a:prstGeom>
          <a:solidFill>
            <a:srgbClr val="0B132B"/>
          </a:solidFill>
        </p:spPr>
      </p:sp>
      <p:sp>
        <p:nvSpPr>
          <p:cNvPr id="6" name="Text 4"/>
          <p:cNvSpPr/>
          <p:nvPr/>
        </p:nvSpPr>
        <p:spPr>
          <a:xfrm>
            <a:off x="804672" y="1746504"/>
            <a:ext cx="457200" cy="457200"/>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5"/>
          <p:cNvSpPr/>
          <p:nvPr/>
        </p:nvSpPr>
        <p:spPr>
          <a:xfrm>
            <a:off x="1389888" y="1764792"/>
            <a:ext cx="2432304" cy="411480"/>
          </a:xfrm>
          <a:prstGeom prst="rect">
            <a:avLst/>
          </a:prstGeom>
          <a:noFill/>
        </p:spPr>
        <p:txBody>
          <a:bodyPr wrap="square" lIns="0" tIns="0" rIns="0" bIns="0" rtlCol="0" anchor="ctr"/>
          <a:lstStyle/>
          <a:p>
            <a:pPr marL="0" indent="0">
              <a:buNone/>
            </a:pPr>
            <a:r>
              <a:rPr lang="en-US" sz="155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Cleaning</a:t>
            </a:r>
            <a:endParaRPr lang="en-US" sz="1550" dirty="0"/>
          </a:p>
        </p:txBody>
      </p:sp>
      <p:sp>
        <p:nvSpPr>
          <p:cNvPr id="8" name="Text 6"/>
          <p:cNvSpPr/>
          <p:nvPr/>
        </p:nvSpPr>
        <p:spPr>
          <a:xfrm>
            <a:off x="822960" y="2423160"/>
            <a:ext cx="2980944" cy="214884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Missing Customer IDs</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Duplicate records</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Cancelled invoices</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Negative quantities</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Data type inconsistencies</a:t>
            </a:r>
            <a:endParaRPr lang="en-US" sz="1100" dirty="0"/>
          </a:p>
        </p:txBody>
      </p:sp>
      <p:sp>
        <p:nvSpPr>
          <p:cNvPr id="9" name="Shape 7"/>
          <p:cNvSpPr/>
          <p:nvPr/>
        </p:nvSpPr>
        <p:spPr>
          <a:xfrm>
            <a:off x="4325112" y="1508760"/>
            <a:ext cx="3529584" cy="3246120"/>
          </a:xfrm>
          <a:prstGeom prst="roundRect">
            <a:avLst>
              <a:gd name="adj" fmla="val 2254"/>
            </a:avLst>
          </a:prstGeom>
          <a:solidFill>
            <a:srgbClr val="16213E"/>
          </a:solidFill>
          <a:effectLst>
            <a:outerShdw blurRad="127000" dist="38100" dir="5400000" algn="bl" rotWithShape="0">
              <a:srgbClr val="000000">
                <a:alpha val="35000"/>
              </a:srgbClr>
            </a:outerShdw>
          </a:effectLst>
        </p:spPr>
      </p:sp>
      <p:sp>
        <p:nvSpPr>
          <p:cNvPr id="10" name="Shape 8"/>
          <p:cNvSpPr/>
          <p:nvPr/>
        </p:nvSpPr>
        <p:spPr>
          <a:xfrm>
            <a:off x="4581144" y="1746504"/>
            <a:ext cx="457200" cy="457200"/>
          </a:xfrm>
          <a:prstGeom prst="ellipse">
            <a:avLst/>
          </a:prstGeom>
          <a:solidFill>
            <a:srgbClr val="0B132B"/>
          </a:solidFill>
        </p:spPr>
      </p:sp>
      <p:sp>
        <p:nvSpPr>
          <p:cNvPr id="11" name="Text 9"/>
          <p:cNvSpPr/>
          <p:nvPr/>
        </p:nvSpPr>
        <p:spPr>
          <a:xfrm>
            <a:off x="4581144" y="1746504"/>
            <a:ext cx="457200" cy="457200"/>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2" name="Text 10"/>
          <p:cNvSpPr/>
          <p:nvPr/>
        </p:nvSpPr>
        <p:spPr>
          <a:xfrm>
            <a:off x="5166360" y="1764792"/>
            <a:ext cx="2432304" cy="411480"/>
          </a:xfrm>
          <a:prstGeom prst="rect">
            <a:avLst/>
          </a:prstGeom>
          <a:noFill/>
        </p:spPr>
        <p:txBody>
          <a:bodyPr wrap="square" lIns="0" tIns="0" rIns="0" bIns="0" rtlCol="0" anchor="ctr"/>
          <a:lstStyle/>
          <a:p>
            <a:pPr marL="0" indent="0">
              <a:buNone/>
            </a:pPr>
            <a:r>
              <a:rPr lang="en-US" sz="1550" b="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a:t>
            </a:r>
            <a:endParaRPr lang="en-US" sz="1550" dirty="0"/>
          </a:p>
        </p:txBody>
      </p:sp>
      <p:sp>
        <p:nvSpPr>
          <p:cNvPr id="13" name="Text 11"/>
          <p:cNvSpPr/>
          <p:nvPr/>
        </p:nvSpPr>
        <p:spPr>
          <a:xfrm>
            <a:off x="4599432" y="2423160"/>
            <a:ext cx="2980944" cy="214884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Selecting appropriate models</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Handling imbalanced data</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Model evaluation</a:t>
            </a:r>
            <a:endParaRPr lang="en-US" sz="1100" dirty="0"/>
          </a:p>
        </p:txBody>
      </p:sp>
      <p:sp>
        <p:nvSpPr>
          <p:cNvPr id="14" name="Shape 12"/>
          <p:cNvSpPr/>
          <p:nvPr/>
        </p:nvSpPr>
        <p:spPr>
          <a:xfrm>
            <a:off x="8101584" y="1508760"/>
            <a:ext cx="3529584" cy="3246120"/>
          </a:xfrm>
          <a:prstGeom prst="roundRect">
            <a:avLst>
              <a:gd name="adj" fmla="val 2254"/>
            </a:avLst>
          </a:prstGeom>
          <a:solidFill>
            <a:srgbClr val="16213E"/>
          </a:solidFill>
          <a:effectLst>
            <a:outerShdw blurRad="127000" dist="38100" dir="5400000" algn="bl" rotWithShape="0">
              <a:srgbClr val="000000">
                <a:alpha val="35000"/>
              </a:srgbClr>
            </a:outerShdw>
          </a:effectLst>
        </p:spPr>
      </p:sp>
      <p:sp>
        <p:nvSpPr>
          <p:cNvPr id="15" name="Shape 13"/>
          <p:cNvSpPr/>
          <p:nvPr/>
        </p:nvSpPr>
        <p:spPr>
          <a:xfrm>
            <a:off x="8357616" y="1746504"/>
            <a:ext cx="457200" cy="457200"/>
          </a:xfrm>
          <a:prstGeom prst="ellipse">
            <a:avLst/>
          </a:prstGeom>
          <a:solidFill>
            <a:srgbClr val="0B132B"/>
          </a:solidFill>
        </p:spPr>
      </p:sp>
      <p:sp>
        <p:nvSpPr>
          <p:cNvPr id="16" name="Text 14"/>
          <p:cNvSpPr/>
          <p:nvPr/>
        </p:nvSpPr>
        <p:spPr>
          <a:xfrm>
            <a:off x="8357616" y="1746504"/>
            <a:ext cx="457200" cy="457200"/>
          </a:xfrm>
          <a:prstGeom prst="rect">
            <a:avLst/>
          </a:prstGeom>
          <a:noFill/>
        </p:spPr>
        <p:txBody>
          <a:bodyPr wrap="square" rtlCol="0" anchor="ctr"/>
          <a:lstStyle/>
          <a:p>
            <a:pPr marL="0" indent="0" algn="ctr">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7" name="Text 15"/>
          <p:cNvSpPr/>
          <p:nvPr/>
        </p:nvSpPr>
        <p:spPr>
          <a:xfrm>
            <a:off x="8942832" y="1764792"/>
            <a:ext cx="2432304" cy="411480"/>
          </a:xfrm>
          <a:prstGeom prst="rect">
            <a:avLst/>
          </a:prstGeom>
          <a:noFill/>
        </p:spPr>
        <p:txBody>
          <a:bodyPr wrap="square" lIns="0" tIns="0" rIns="0" bIns="0" rtlCol="0" anchor="ctr"/>
          <a:lstStyle/>
          <a:p>
            <a:pPr marL="0" indent="0">
              <a:buNone/>
            </a:pPr>
            <a:r>
              <a:rPr lang="en-US" sz="1550" b="1" dirty="0">
                <a:solidFill>
                  <a:srgbClr val="FFFFFF"/>
                </a:solidFill>
                <a:latin typeface="Cambria" panose="02040503050406030204" pitchFamily="34" charset="0"/>
                <a:ea typeface="Cambria" panose="02040503050406030204" pitchFamily="34" charset="-122"/>
                <a:cs typeface="Cambria" panose="02040503050406030204" pitchFamily="34" charset="-120"/>
              </a:rPr>
              <a:t>Deployment</a:t>
            </a:r>
            <a:endParaRPr lang="en-US" sz="1550" dirty="0"/>
          </a:p>
        </p:txBody>
      </p:sp>
      <p:sp>
        <p:nvSpPr>
          <p:cNvPr id="18" name="Text 16"/>
          <p:cNvSpPr/>
          <p:nvPr/>
        </p:nvSpPr>
        <p:spPr>
          <a:xfrm>
            <a:off x="8375904" y="2423160"/>
            <a:ext cx="2980944" cy="214884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GitHub repository management</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Large dataset handling</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Streamlit Cloud deployment</a:t>
            </a:r>
            <a:endParaRPr lang="en-US" sz="1100" dirty="0"/>
          </a:p>
          <a:p>
            <a:pPr marL="177800" indent="-177800">
              <a:spcAft>
                <a:spcPts val="800"/>
              </a:spcAft>
              <a:buSzPct val="100000"/>
              <a:buChar char="▪"/>
            </a:pPr>
            <a:r>
              <a:rPr lang="en-US" sz="1100" dirty="0">
                <a:solidFill>
                  <a:srgbClr val="8D9AB8"/>
                </a:solidFill>
                <a:latin typeface="Calibri" panose="020F0502020204030204" pitchFamily="34" charset="0"/>
                <a:ea typeface="Calibri" panose="020F0502020204030204" pitchFamily="34" charset="-122"/>
                <a:cs typeface="Calibri" panose="020F0502020204030204" pitchFamily="34" charset="-120"/>
              </a:rPr>
              <a:t>Windows → Cloud file paths</a:t>
            </a:r>
            <a:endParaRPr lang="en-US" sz="1100" dirty="0"/>
          </a:p>
        </p:txBody>
      </p:sp>
      <p:sp>
        <p:nvSpPr>
          <p:cNvPr id="19" name="Shape 17"/>
          <p:cNvSpPr/>
          <p:nvPr/>
        </p:nvSpPr>
        <p:spPr>
          <a:xfrm>
            <a:off x="548640" y="4937760"/>
            <a:ext cx="11091672" cy="1188720"/>
          </a:xfrm>
          <a:prstGeom prst="roundRect">
            <a:avLst>
              <a:gd name="adj" fmla="val 6154"/>
            </a:avLst>
          </a:prstGeom>
          <a:solidFill>
            <a:srgbClr val="1E2B4D"/>
          </a:solidFill>
          <a:effectLst>
            <a:outerShdw blurRad="127000" dist="38100" dir="5400000" algn="bl" rotWithShape="0">
              <a:srgbClr val="000000">
                <a:alpha val="35000"/>
              </a:srgbClr>
            </a:outerShdw>
          </a:effectLst>
        </p:spPr>
      </p:sp>
      <p:sp>
        <p:nvSpPr>
          <p:cNvPr id="20" name="Text 18"/>
          <p:cNvSpPr/>
          <p:nvPr/>
        </p:nvSpPr>
        <p:spPr>
          <a:xfrm>
            <a:off x="777240" y="5074920"/>
            <a:ext cx="3657600" cy="274320"/>
          </a:xfrm>
          <a:prstGeom prst="rect">
            <a:avLst/>
          </a:prstGeom>
          <a:noFill/>
        </p:spPr>
        <p:txBody>
          <a:bodyPr wrap="square" lIns="0" tIns="0" rIns="0" bIns="0" rtlCol="0" anchor="ctr"/>
          <a:lstStyle/>
          <a:p>
            <a:pPr marL="0" indent="0">
              <a:buNone/>
            </a:pPr>
            <a:r>
              <a:rPr lang="en-US" sz="1300" b="1" dirty="0">
                <a:solidFill>
                  <a:srgbClr val="5BC0BE"/>
                </a:solidFill>
                <a:latin typeface="Cambria" panose="02040503050406030204" pitchFamily="34" charset="0"/>
                <a:ea typeface="Cambria" panose="02040503050406030204" pitchFamily="34" charset="-122"/>
                <a:cs typeface="Cambria" panose="02040503050406030204" pitchFamily="34" charset="-120"/>
              </a:rPr>
              <a:t>How We Solved It</a:t>
            </a:r>
            <a:endParaRPr lang="en-US" sz="1300" dirty="0"/>
          </a:p>
        </p:txBody>
      </p:sp>
      <p:sp>
        <p:nvSpPr>
          <p:cNvPr id="21" name="Text 19"/>
          <p:cNvSpPr/>
          <p:nvPr/>
        </p:nvSpPr>
        <p:spPr>
          <a:xfrm>
            <a:off x="777240" y="5394960"/>
            <a:ext cx="5212080" cy="274320"/>
          </a:xfrm>
          <a:prstGeom prst="rect">
            <a:avLst/>
          </a:prstGeom>
          <a:noFill/>
        </p:spPr>
        <p:txBody>
          <a:bodyPr wrap="square" lIns="0" tIns="0" rIns="0" bIns="0" rtlCol="0" anchor="ctr"/>
          <a:lstStyle/>
          <a:p>
            <a:pPr marL="0" indent="0">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  Cleaned &amp; validated the dataset</a:t>
            </a:r>
            <a:endParaRPr lang="en-US" sz="1100" dirty="0"/>
          </a:p>
        </p:txBody>
      </p:sp>
      <p:sp>
        <p:nvSpPr>
          <p:cNvPr id="22" name="Text 20"/>
          <p:cNvSpPr/>
          <p:nvPr/>
        </p:nvSpPr>
        <p:spPr>
          <a:xfrm>
            <a:off x="6172200" y="5394960"/>
            <a:ext cx="5212080" cy="274320"/>
          </a:xfrm>
          <a:prstGeom prst="rect">
            <a:avLst/>
          </a:prstGeom>
          <a:noFill/>
        </p:spPr>
        <p:txBody>
          <a:bodyPr wrap="square" lIns="0" tIns="0" rIns="0" bIns="0" rtlCol="0" anchor="ctr"/>
          <a:lstStyle/>
          <a:p>
            <a:pPr marL="0" indent="0">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  Created engineered features</a:t>
            </a:r>
            <a:endParaRPr lang="en-US" sz="1100" dirty="0"/>
          </a:p>
        </p:txBody>
      </p:sp>
      <p:sp>
        <p:nvSpPr>
          <p:cNvPr id="23" name="Text 21"/>
          <p:cNvSpPr/>
          <p:nvPr/>
        </p:nvSpPr>
        <p:spPr>
          <a:xfrm>
            <a:off x="777240" y="5705856"/>
            <a:ext cx="5212080" cy="274320"/>
          </a:xfrm>
          <a:prstGeom prst="rect">
            <a:avLst/>
          </a:prstGeom>
          <a:noFill/>
        </p:spPr>
        <p:txBody>
          <a:bodyPr wrap="square" lIns="0" tIns="0" rIns="0" bIns="0" rtlCol="0" anchor="ctr"/>
          <a:lstStyle/>
          <a:p>
            <a:pPr marL="0" indent="0">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  Optimized dataset size for deployment</a:t>
            </a:r>
            <a:endParaRPr lang="en-US" sz="1100" dirty="0"/>
          </a:p>
        </p:txBody>
      </p:sp>
      <p:sp>
        <p:nvSpPr>
          <p:cNvPr id="24" name="Text 22"/>
          <p:cNvSpPr/>
          <p:nvPr/>
        </p:nvSpPr>
        <p:spPr>
          <a:xfrm>
            <a:off x="6172200" y="5705856"/>
            <a:ext cx="5212080" cy="274320"/>
          </a:xfrm>
          <a:prstGeom prst="rect">
            <a:avLst/>
          </a:prstGeom>
          <a:noFill/>
        </p:spPr>
        <p:txBody>
          <a:bodyPr wrap="square" lIns="0" tIns="0" rIns="0" bIns="0" rtlCol="0" anchor="ctr"/>
          <a:lstStyle/>
          <a:p>
            <a:pPr marL="0" indent="0">
              <a:buNone/>
            </a:pPr>
            <a:r>
              <a:rPr lang="en-US" sz="1100" dirty="0">
                <a:solidFill>
                  <a:srgbClr val="E8ECF4"/>
                </a:solidFill>
                <a:latin typeface="Calibri" panose="020F0502020204030204" pitchFamily="34" charset="0"/>
                <a:ea typeface="Calibri" panose="020F0502020204030204" pitchFamily="34" charset="-122"/>
                <a:cs typeface="Calibri" panose="020F0502020204030204" pitchFamily="34" charset="-120"/>
              </a:rPr>
              <a:t>✓  Used GitHub + Streamlit Cloud for hosting</a:t>
            </a:r>
            <a:endParaRPr lang="en-US" sz="1100" dirty="0"/>
          </a:p>
        </p:txBody>
      </p:sp>
      <p:sp>
        <p:nvSpPr>
          <p:cNvPr id="26" name="Text 23"/>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27" name="Text 24"/>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WHAT'S NEXT</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Future Scope</a:t>
            </a:r>
            <a:endParaRPr lang="en-US" sz="3000" dirty="0"/>
          </a:p>
        </p:txBody>
      </p:sp>
      <p:sp>
        <p:nvSpPr>
          <p:cNvPr id="4" name="Shape 2"/>
          <p:cNvSpPr/>
          <p:nvPr/>
        </p:nvSpPr>
        <p:spPr>
          <a:xfrm>
            <a:off x="548640" y="1554480"/>
            <a:ext cx="2651760" cy="1234440"/>
          </a:xfrm>
          <a:prstGeom prst="roundRect">
            <a:avLst>
              <a:gd name="adj" fmla="val 5926"/>
            </a:avLst>
          </a:prstGeom>
          <a:solidFill>
            <a:srgbClr val="16213E"/>
          </a:solidFill>
        </p:spPr>
      </p:sp>
      <p:sp>
        <p:nvSpPr>
          <p:cNvPr id="5" name="Shape 3"/>
          <p:cNvSpPr/>
          <p:nvPr/>
        </p:nvSpPr>
        <p:spPr>
          <a:xfrm>
            <a:off x="749808" y="1755648"/>
            <a:ext cx="384048" cy="384048"/>
          </a:xfrm>
          <a:prstGeom prst="ellipse">
            <a:avLst/>
          </a:prstGeom>
          <a:solidFill>
            <a:srgbClr val="0B132B"/>
          </a:solidFill>
        </p:spPr>
      </p:sp>
      <p:sp>
        <p:nvSpPr>
          <p:cNvPr id="6" name="Text 4"/>
          <p:cNvSpPr/>
          <p:nvPr/>
        </p:nvSpPr>
        <p:spPr>
          <a:xfrm>
            <a:off x="749808" y="175564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7" name="Text 5"/>
          <p:cNvSpPr/>
          <p:nvPr/>
        </p:nvSpPr>
        <p:spPr>
          <a:xfrm>
            <a:off x="731520" y="221284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Cloud Database Integration (SQL)</a:t>
            </a:r>
            <a:endParaRPr lang="en-US" sz="1080" dirty="0"/>
          </a:p>
        </p:txBody>
      </p:sp>
      <p:sp>
        <p:nvSpPr>
          <p:cNvPr id="8" name="Shape 6"/>
          <p:cNvSpPr/>
          <p:nvPr/>
        </p:nvSpPr>
        <p:spPr>
          <a:xfrm>
            <a:off x="3383280" y="1554480"/>
            <a:ext cx="2651760" cy="1234440"/>
          </a:xfrm>
          <a:prstGeom prst="roundRect">
            <a:avLst>
              <a:gd name="adj" fmla="val 5926"/>
            </a:avLst>
          </a:prstGeom>
          <a:solidFill>
            <a:srgbClr val="16213E"/>
          </a:solidFill>
        </p:spPr>
      </p:sp>
      <p:sp>
        <p:nvSpPr>
          <p:cNvPr id="9" name="Shape 7"/>
          <p:cNvSpPr/>
          <p:nvPr/>
        </p:nvSpPr>
        <p:spPr>
          <a:xfrm>
            <a:off x="3584448" y="1755648"/>
            <a:ext cx="384048" cy="384048"/>
          </a:xfrm>
          <a:prstGeom prst="ellipse">
            <a:avLst/>
          </a:prstGeom>
          <a:solidFill>
            <a:srgbClr val="0B132B"/>
          </a:solidFill>
        </p:spPr>
      </p:sp>
      <p:sp>
        <p:nvSpPr>
          <p:cNvPr id="10" name="Text 8"/>
          <p:cNvSpPr/>
          <p:nvPr/>
        </p:nvSpPr>
        <p:spPr>
          <a:xfrm>
            <a:off x="3584448" y="175564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1" name="Text 9"/>
          <p:cNvSpPr/>
          <p:nvPr/>
        </p:nvSpPr>
        <p:spPr>
          <a:xfrm>
            <a:off x="3566160" y="221284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Power BI Integration</a:t>
            </a:r>
            <a:endParaRPr lang="en-US" sz="1080" dirty="0"/>
          </a:p>
        </p:txBody>
      </p:sp>
      <p:sp>
        <p:nvSpPr>
          <p:cNvPr id="12" name="Shape 10"/>
          <p:cNvSpPr/>
          <p:nvPr/>
        </p:nvSpPr>
        <p:spPr>
          <a:xfrm>
            <a:off x="6217920" y="1554480"/>
            <a:ext cx="2651760" cy="1234440"/>
          </a:xfrm>
          <a:prstGeom prst="roundRect">
            <a:avLst>
              <a:gd name="adj" fmla="val 5926"/>
            </a:avLst>
          </a:prstGeom>
          <a:solidFill>
            <a:srgbClr val="16213E"/>
          </a:solidFill>
        </p:spPr>
      </p:sp>
      <p:sp>
        <p:nvSpPr>
          <p:cNvPr id="13" name="Shape 11"/>
          <p:cNvSpPr/>
          <p:nvPr/>
        </p:nvSpPr>
        <p:spPr>
          <a:xfrm>
            <a:off x="6419088" y="1755648"/>
            <a:ext cx="384048" cy="384048"/>
          </a:xfrm>
          <a:prstGeom prst="ellipse">
            <a:avLst/>
          </a:prstGeom>
          <a:solidFill>
            <a:srgbClr val="0B132B"/>
          </a:solidFill>
        </p:spPr>
      </p:sp>
      <p:sp>
        <p:nvSpPr>
          <p:cNvPr id="14" name="Text 12"/>
          <p:cNvSpPr/>
          <p:nvPr/>
        </p:nvSpPr>
        <p:spPr>
          <a:xfrm>
            <a:off x="6419088" y="175564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5" name="Text 13"/>
          <p:cNvSpPr/>
          <p:nvPr/>
        </p:nvSpPr>
        <p:spPr>
          <a:xfrm>
            <a:off x="6400800" y="221284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AI-Based Product Recommendations</a:t>
            </a:r>
            <a:endParaRPr lang="en-US" sz="1080" dirty="0"/>
          </a:p>
        </p:txBody>
      </p:sp>
      <p:sp>
        <p:nvSpPr>
          <p:cNvPr id="16" name="Shape 14"/>
          <p:cNvSpPr/>
          <p:nvPr/>
        </p:nvSpPr>
        <p:spPr>
          <a:xfrm>
            <a:off x="9052560" y="1554480"/>
            <a:ext cx="2651760" cy="1234440"/>
          </a:xfrm>
          <a:prstGeom prst="roundRect">
            <a:avLst>
              <a:gd name="adj" fmla="val 5926"/>
            </a:avLst>
          </a:prstGeom>
          <a:solidFill>
            <a:srgbClr val="16213E"/>
          </a:solidFill>
        </p:spPr>
      </p:sp>
      <p:sp>
        <p:nvSpPr>
          <p:cNvPr id="17" name="Shape 15"/>
          <p:cNvSpPr/>
          <p:nvPr/>
        </p:nvSpPr>
        <p:spPr>
          <a:xfrm>
            <a:off x="9253728" y="1755648"/>
            <a:ext cx="384048" cy="384048"/>
          </a:xfrm>
          <a:prstGeom prst="ellipse">
            <a:avLst/>
          </a:prstGeom>
          <a:solidFill>
            <a:srgbClr val="0B132B"/>
          </a:solidFill>
        </p:spPr>
      </p:sp>
      <p:sp>
        <p:nvSpPr>
          <p:cNvPr id="18" name="Text 16"/>
          <p:cNvSpPr/>
          <p:nvPr/>
        </p:nvSpPr>
        <p:spPr>
          <a:xfrm>
            <a:off x="9253728" y="175564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19" name="Text 17"/>
          <p:cNvSpPr/>
          <p:nvPr/>
        </p:nvSpPr>
        <p:spPr>
          <a:xfrm>
            <a:off x="9235440" y="221284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Advanced Demand Forecasting</a:t>
            </a:r>
            <a:endParaRPr lang="en-US" sz="1080" dirty="0"/>
          </a:p>
        </p:txBody>
      </p:sp>
      <p:sp>
        <p:nvSpPr>
          <p:cNvPr id="20" name="Shape 18"/>
          <p:cNvSpPr/>
          <p:nvPr/>
        </p:nvSpPr>
        <p:spPr>
          <a:xfrm>
            <a:off x="548640" y="2971800"/>
            <a:ext cx="2651760" cy="1234440"/>
          </a:xfrm>
          <a:prstGeom prst="roundRect">
            <a:avLst>
              <a:gd name="adj" fmla="val 5926"/>
            </a:avLst>
          </a:prstGeom>
          <a:solidFill>
            <a:srgbClr val="16213E"/>
          </a:solidFill>
        </p:spPr>
      </p:sp>
      <p:sp>
        <p:nvSpPr>
          <p:cNvPr id="21" name="Shape 19"/>
          <p:cNvSpPr/>
          <p:nvPr/>
        </p:nvSpPr>
        <p:spPr>
          <a:xfrm>
            <a:off x="749808" y="3172968"/>
            <a:ext cx="384048" cy="384048"/>
          </a:xfrm>
          <a:prstGeom prst="ellipse">
            <a:avLst/>
          </a:prstGeom>
          <a:solidFill>
            <a:srgbClr val="0B132B"/>
          </a:solidFill>
        </p:spPr>
      </p:sp>
      <p:sp>
        <p:nvSpPr>
          <p:cNvPr id="22" name="Text 20"/>
          <p:cNvSpPr/>
          <p:nvPr/>
        </p:nvSpPr>
        <p:spPr>
          <a:xfrm>
            <a:off x="749808" y="317296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23" name="Text 21"/>
          <p:cNvSpPr/>
          <p:nvPr/>
        </p:nvSpPr>
        <p:spPr>
          <a:xfrm>
            <a:off x="731520" y="363016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User Authentication</a:t>
            </a:r>
            <a:endParaRPr lang="en-US" sz="1080" dirty="0"/>
          </a:p>
        </p:txBody>
      </p:sp>
      <p:sp>
        <p:nvSpPr>
          <p:cNvPr id="24" name="Shape 22"/>
          <p:cNvSpPr/>
          <p:nvPr/>
        </p:nvSpPr>
        <p:spPr>
          <a:xfrm>
            <a:off x="3383280" y="2971800"/>
            <a:ext cx="2651760" cy="1234440"/>
          </a:xfrm>
          <a:prstGeom prst="roundRect">
            <a:avLst>
              <a:gd name="adj" fmla="val 5926"/>
            </a:avLst>
          </a:prstGeom>
          <a:solidFill>
            <a:srgbClr val="16213E"/>
          </a:solidFill>
        </p:spPr>
      </p:sp>
      <p:sp>
        <p:nvSpPr>
          <p:cNvPr id="25" name="Shape 23"/>
          <p:cNvSpPr/>
          <p:nvPr/>
        </p:nvSpPr>
        <p:spPr>
          <a:xfrm>
            <a:off x="3584448" y="3172968"/>
            <a:ext cx="384048" cy="384048"/>
          </a:xfrm>
          <a:prstGeom prst="ellipse">
            <a:avLst/>
          </a:prstGeom>
          <a:solidFill>
            <a:srgbClr val="0B132B"/>
          </a:solidFill>
        </p:spPr>
      </p:sp>
      <p:sp>
        <p:nvSpPr>
          <p:cNvPr id="26" name="Text 24"/>
          <p:cNvSpPr/>
          <p:nvPr/>
        </p:nvSpPr>
        <p:spPr>
          <a:xfrm>
            <a:off x="3584448" y="317296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27" name="Text 25"/>
          <p:cNvSpPr/>
          <p:nvPr/>
        </p:nvSpPr>
        <p:spPr>
          <a:xfrm>
            <a:off x="3566160" y="363016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Mobile Responsive Dashboard</a:t>
            </a:r>
            <a:endParaRPr lang="en-US" sz="1080" dirty="0"/>
          </a:p>
        </p:txBody>
      </p:sp>
      <p:sp>
        <p:nvSpPr>
          <p:cNvPr id="28" name="Shape 26"/>
          <p:cNvSpPr/>
          <p:nvPr/>
        </p:nvSpPr>
        <p:spPr>
          <a:xfrm>
            <a:off x="6217920" y="2971800"/>
            <a:ext cx="2651760" cy="1234440"/>
          </a:xfrm>
          <a:prstGeom prst="roundRect">
            <a:avLst>
              <a:gd name="adj" fmla="val 5926"/>
            </a:avLst>
          </a:prstGeom>
          <a:solidFill>
            <a:srgbClr val="16213E"/>
          </a:solidFill>
        </p:spPr>
      </p:sp>
      <p:sp>
        <p:nvSpPr>
          <p:cNvPr id="29" name="Shape 27"/>
          <p:cNvSpPr/>
          <p:nvPr/>
        </p:nvSpPr>
        <p:spPr>
          <a:xfrm>
            <a:off x="6419088" y="3172968"/>
            <a:ext cx="384048" cy="384048"/>
          </a:xfrm>
          <a:prstGeom prst="ellipse">
            <a:avLst/>
          </a:prstGeom>
          <a:solidFill>
            <a:srgbClr val="0B132B"/>
          </a:solidFill>
        </p:spPr>
      </p:sp>
      <p:sp>
        <p:nvSpPr>
          <p:cNvPr id="30" name="Text 28"/>
          <p:cNvSpPr/>
          <p:nvPr/>
        </p:nvSpPr>
        <p:spPr>
          <a:xfrm>
            <a:off x="6419088" y="317296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7</a:t>
            </a:r>
            <a:endParaRPr lang="en-US" sz="1300" dirty="0"/>
          </a:p>
        </p:txBody>
      </p:sp>
      <p:sp>
        <p:nvSpPr>
          <p:cNvPr id="31" name="Text 29"/>
          <p:cNvSpPr/>
          <p:nvPr/>
        </p:nvSpPr>
        <p:spPr>
          <a:xfrm>
            <a:off x="6400800" y="363016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Real-Time Data Streaming</a:t>
            </a:r>
            <a:endParaRPr lang="en-US" sz="1080" dirty="0"/>
          </a:p>
        </p:txBody>
      </p:sp>
      <p:sp>
        <p:nvSpPr>
          <p:cNvPr id="32" name="Shape 30"/>
          <p:cNvSpPr/>
          <p:nvPr/>
        </p:nvSpPr>
        <p:spPr>
          <a:xfrm>
            <a:off x="9052560" y="2971800"/>
            <a:ext cx="2651760" cy="1234440"/>
          </a:xfrm>
          <a:prstGeom prst="roundRect">
            <a:avLst>
              <a:gd name="adj" fmla="val 5926"/>
            </a:avLst>
          </a:prstGeom>
          <a:solidFill>
            <a:srgbClr val="16213E"/>
          </a:solidFill>
        </p:spPr>
      </p:sp>
      <p:sp>
        <p:nvSpPr>
          <p:cNvPr id="33" name="Shape 31"/>
          <p:cNvSpPr/>
          <p:nvPr/>
        </p:nvSpPr>
        <p:spPr>
          <a:xfrm>
            <a:off x="9253728" y="3172968"/>
            <a:ext cx="384048" cy="384048"/>
          </a:xfrm>
          <a:prstGeom prst="ellipse">
            <a:avLst/>
          </a:prstGeom>
          <a:solidFill>
            <a:srgbClr val="0B132B"/>
          </a:solidFill>
        </p:spPr>
      </p:sp>
      <p:sp>
        <p:nvSpPr>
          <p:cNvPr id="34" name="Text 32"/>
          <p:cNvSpPr/>
          <p:nvPr/>
        </p:nvSpPr>
        <p:spPr>
          <a:xfrm>
            <a:off x="9253728" y="3172968"/>
            <a:ext cx="384048" cy="384048"/>
          </a:xfrm>
          <a:prstGeom prst="rect">
            <a:avLst/>
          </a:prstGeom>
          <a:noFill/>
        </p:spPr>
        <p:txBody>
          <a:bodyPr wrap="square" rtlCol="0" anchor="ctr"/>
          <a:lstStyle/>
          <a:p>
            <a:pPr marL="0" indent="0" algn="ctr">
              <a:buNone/>
            </a:pPr>
            <a:r>
              <a:rPr lang="en-US" sz="1300" b="1" dirty="0">
                <a:solidFill>
                  <a:srgbClr val="5BC0BE"/>
                </a:solidFill>
                <a:latin typeface="Calibri" panose="020F0502020204030204" pitchFamily="34" charset="0"/>
                <a:ea typeface="Calibri" panose="020F0502020204030204" pitchFamily="34" charset="-122"/>
                <a:cs typeface="Calibri" panose="020F0502020204030204" pitchFamily="34" charset="-120"/>
              </a:rPr>
              <a:t>8</a:t>
            </a:r>
            <a:endParaRPr lang="en-US" sz="1300" dirty="0"/>
          </a:p>
        </p:txBody>
      </p:sp>
      <p:sp>
        <p:nvSpPr>
          <p:cNvPr id="35" name="Text 33"/>
          <p:cNvSpPr/>
          <p:nvPr/>
        </p:nvSpPr>
        <p:spPr>
          <a:xfrm>
            <a:off x="9235440" y="3630168"/>
            <a:ext cx="2286000" cy="502920"/>
          </a:xfrm>
          <a:prstGeom prst="rect">
            <a:avLst/>
          </a:prstGeom>
          <a:noFill/>
        </p:spPr>
        <p:txBody>
          <a:bodyPr wrap="square" lIns="0" tIns="0" rIns="0" bIns="0" rtlCol="0" anchor="ctr"/>
          <a:lstStyle/>
          <a:p>
            <a:pPr marL="0" indent="0">
              <a:lnSpc>
                <a:spcPct val="110000"/>
              </a:lnSpc>
              <a:buNone/>
            </a:pPr>
            <a:r>
              <a:rPr lang="en-US" sz="1080" b="1" dirty="0">
                <a:solidFill>
                  <a:srgbClr val="E8ECF4"/>
                </a:solidFill>
                <a:latin typeface="Calibri" panose="020F0502020204030204" pitchFamily="34" charset="0"/>
                <a:ea typeface="Calibri" panose="020F0502020204030204" pitchFamily="34" charset="-122"/>
                <a:cs typeface="Calibri" panose="020F0502020204030204" pitchFamily="34" charset="-120"/>
              </a:rPr>
              <a:t>Automated Business Reports</a:t>
            </a:r>
            <a:endParaRPr lang="en-US" sz="1080" dirty="0"/>
          </a:p>
        </p:txBody>
      </p:sp>
      <p:sp>
        <p:nvSpPr>
          <p:cNvPr id="36" name="Shape 34"/>
          <p:cNvSpPr/>
          <p:nvPr/>
        </p:nvSpPr>
        <p:spPr>
          <a:xfrm>
            <a:off x="1417320" y="4718304"/>
            <a:ext cx="9326880" cy="0"/>
          </a:xfrm>
          <a:prstGeom prst="line">
            <a:avLst/>
          </a:prstGeom>
          <a:noFill/>
          <a:ln w="19050">
            <a:solidFill>
              <a:srgbClr val="2C3A63"/>
            </a:solidFill>
            <a:prstDash val="solid"/>
          </a:ln>
        </p:spPr>
      </p:sp>
      <p:sp>
        <p:nvSpPr>
          <p:cNvPr id="37" name="Shape 35"/>
          <p:cNvSpPr/>
          <p:nvPr/>
        </p:nvSpPr>
        <p:spPr>
          <a:xfrm>
            <a:off x="1325880" y="4626864"/>
            <a:ext cx="182880" cy="182880"/>
          </a:xfrm>
          <a:prstGeom prst="ellipse">
            <a:avLst/>
          </a:prstGeom>
          <a:solidFill>
            <a:srgbClr val="5BC0BE"/>
          </a:solidFill>
          <a:ln w="25400">
            <a:solidFill>
              <a:srgbClr val="0B132B"/>
            </a:solidFill>
            <a:prstDash val="solid"/>
          </a:ln>
        </p:spPr>
      </p:sp>
      <p:sp>
        <p:nvSpPr>
          <p:cNvPr id="38" name="Text 36"/>
          <p:cNvSpPr/>
          <p:nvPr/>
        </p:nvSpPr>
        <p:spPr>
          <a:xfrm>
            <a:off x="320040" y="4279392"/>
            <a:ext cx="2194560" cy="2743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Short-Term</a:t>
            </a:r>
            <a:endParaRPr lang="en-US" sz="1150" dirty="0"/>
          </a:p>
        </p:txBody>
      </p:sp>
      <p:sp>
        <p:nvSpPr>
          <p:cNvPr id="39" name="Text 37"/>
          <p:cNvSpPr/>
          <p:nvPr/>
        </p:nvSpPr>
        <p:spPr>
          <a:xfrm>
            <a:off x="137160" y="4882896"/>
            <a:ext cx="2560320" cy="365760"/>
          </a:xfrm>
          <a:prstGeom prst="rect">
            <a:avLst/>
          </a:prstGeom>
          <a:noFill/>
        </p:spPr>
        <p:txBody>
          <a:bodyPr wrap="square" lIns="0" tIns="0" rIns="0" bIns="0" rtlCol="0" anchor="ctr"/>
          <a:lstStyle/>
          <a:p>
            <a:pPr marL="0" indent="0" algn="ctr">
              <a:buNone/>
            </a:pPr>
            <a:r>
              <a:rPr lang="en-US" sz="950" i="1" dirty="0">
                <a:solidFill>
                  <a:srgbClr val="8D9AB8"/>
                </a:solidFill>
                <a:latin typeface="Calibri" panose="020F0502020204030204" pitchFamily="34" charset="0"/>
                <a:ea typeface="Calibri" panose="020F0502020204030204" pitchFamily="34" charset="-122"/>
                <a:cs typeface="Calibri" panose="020F0502020204030204" pitchFamily="34" charset="-120"/>
              </a:rPr>
              <a:t>Auth · Mobile UI</a:t>
            </a:r>
            <a:endParaRPr lang="en-US" sz="950" dirty="0"/>
          </a:p>
        </p:txBody>
      </p:sp>
      <p:sp>
        <p:nvSpPr>
          <p:cNvPr id="40" name="Shape 38"/>
          <p:cNvSpPr/>
          <p:nvPr/>
        </p:nvSpPr>
        <p:spPr>
          <a:xfrm>
            <a:off x="5989320" y="4626864"/>
            <a:ext cx="182880" cy="182880"/>
          </a:xfrm>
          <a:prstGeom prst="ellipse">
            <a:avLst/>
          </a:prstGeom>
          <a:solidFill>
            <a:srgbClr val="5BC0BE"/>
          </a:solidFill>
          <a:ln w="25400">
            <a:solidFill>
              <a:srgbClr val="0B132B"/>
            </a:solidFill>
            <a:prstDash val="solid"/>
          </a:ln>
        </p:spPr>
      </p:sp>
      <p:sp>
        <p:nvSpPr>
          <p:cNvPr id="41" name="Text 39"/>
          <p:cNvSpPr/>
          <p:nvPr/>
        </p:nvSpPr>
        <p:spPr>
          <a:xfrm>
            <a:off x="4983480" y="4279392"/>
            <a:ext cx="2194560" cy="2743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Mid-Term</a:t>
            </a:r>
            <a:endParaRPr lang="en-US" sz="1150" dirty="0"/>
          </a:p>
        </p:txBody>
      </p:sp>
      <p:sp>
        <p:nvSpPr>
          <p:cNvPr id="42" name="Text 40"/>
          <p:cNvSpPr/>
          <p:nvPr/>
        </p:nvSpPr>
        <p:spPr>
          <a:xfrm>
            <a:off x="4800600" y="4882896"/>
            <a:ext cx="2560320" cy="365760"/>
          </a:xfrm>
          <a:prstGeom prst="rect">
            <a:avLst/>
          </a:prstGeom>
          <a:noFill/>
        </p:spPr>
        <p:txBody>
          <a:bodyPr wrap="square" lIns="0" tIns="0" rIns="0" bIns="0" rtlCol="0" anchor="ctr"/>
          <a:lstStyle/>
          <a:p>
            <a:pPr marL="0" indent="0" algn="ctr">
              <a:buNone/>
            </a:pPr>
            <a:r>
              <a:rPr lang="en-US" sz="950" i="1" dirty="0">
                <a:solidFill>
                  <a:srgbClr val="8D9AB8"/>
                </a:solidFill>
                <a:latin typeface="Calibri" panose="020F0502020204030204" pitchFamily="34" charset="0"/>
                <a:ea typeface="Calibri" panose="020F0502020204030204" pitchFamily="34" charset="-122"/>
                <a:cs typeface="Calibri" panose="020F0502020204030204" pitchFamily="34" charset="-120"/>
              </a:rPr>
              <a:t>Power BI · SQL Cloud</a:t>
            </a:r>
            <a:endParaRPr lang="en-US" sz="950" dirty="0"/>
          </a:p>
        </p:txBody>
      </p:sp>
      <p:sp>
        <p:nvSpPr>
          <p:cNvPr id="43" name="Shape 41"/>
          <p:cNvSpPr/>
          <p:nvPr/>
        </p:nvSpPr>
        <p:spPr>
          <a:xfrm>
            <a:off x="10652760" y="4626864"/>
            <a:ext cx="182880" cy="182880"/>
          </a:xfrm>
          <a:prstGeom prst="ellipse">
            <a:avLst/>
          </a:prstGeom>
          <a:solidFill>
            <a:srgbClr val="5BC0BE"/>
          </a:solidFill>
          <a:ln w="25400">
            <a:solidFill>
              <a:srgbClr val="0B132B"/>
            </a:solidFill>
            <a:prstDash val="solid"/>
          </a:ln>
        </p:spPr>
      </p:sp>
      <p:sp>
        <p:nvSpPr>
          <p:cNvPr id="44" name="Text 42"/>
          <p:cNvSpPr/>
          <p:nvPr/>
        </p:nvSpPr>
        <p:spPr>
          <a:xfrm>
            <a:off x="9646920" y="4279392"/>
            <a:ext cx="2194560" cy="2743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Long-Term</a:t>
            </a:r>
            <a:endParaRPr lang="en-US" sz="1150" dirty="0"/>
          </a:p>
        </p:txBody>
      </p:sp>
      <p:sp>
        <p:nvSpPr>
          <p:cNvPr id="45" name="Text 43"/>
          <p:cNvSpPr/>
          <p:nvPr/>
        </p:nvSpPr>
        <p:spPr>
          <a:xfrm>
            <a:off x="9464040" y="4882896"/>
            <a:ext cx="2560320" cy="365760"/>
          </a:xfrm>
          <a:prstGeom prst="rect">
            <a:avLst/>
          </a:prstGeom>
          <a:noFill/>
        </p:spPr>
        <p:txBody>
          <a:bodyPr wrap="square" lIns="0" tIns="0" rIns="0" bIns="0" rtlCol="0" anchor="ctr"/>
          <a:lstStyle/>
          <a:p>
            <a:pPr marL="0" indent="0" algn="ctr">
              <a:buNone/>
            </a:pPr>
            <a:r>
              <a:rPr lang="en-US" sz="950" i="1" dirty="0">
                <a:solidFill>
                  <a:srgbClr val="8D9AB8"/>
                </a:solidFill>
                <a:latin typeface="Calibri" panose="020F0502020204030204" pitchFamily="34" charset="0"/>
                <a:ea typeface="Calibri" panose="020F0502020204030204" pitchFamily="34" charset="-122"/>
                <a:cs typeface="Calibri" panose="020F0502020204030204" pitchFamily="34" charset="-120"/>
              </a:rPr>
              <a:t>AI Recommendations · Real-Time</a:t>
            </a:r>
            <a:endParaRPr lang="en-US" sz="950" dirty="0"/>
          </a:p>
        </p:txBody>
      </p:sp>
      <p:sp>
        <p:nvSpPr>
          <p:cNvPr id="46" name="Shape 44"/>
          <p:cNvSpPr/>
          <p:nvPr/>
        </p:nvSpPr>
        <p:spPr>
          <a:xfrm>
            <a:off x="548640" y="5394960"/>
            <a:ext cx="11091672" cy="868680"/>
          </a:xfrm>
          <a:prstGeom prst="roundRect">
            <a:avLst>
              <a:gd name="adj" fmla="val 8421"/>
            </a:avLst>
          </a:prstGeom>
          <a:solidFill>
            <a:srgbClr val="1E2B4D"/>
          </a:solidFill>
          <a:effectLst>
            <a:outerShdw blurRad="127000" dist="38100" dir="5400000" algn="bl" rotWithShape="0">
              <a:srgbClr val="000000">
                <a:alpha val="35000"/>
              </a:srgbClr>
            </a:outerShdw>
          </a:effectLst>
        </p:spPr>
      </p:sp>
      <p:sp>
        <p:nvSpPr>
          <p:cNvPr id="47" name="Text 45"/>
          <p:cNvSpPr/>
          <p:nvPr/>
        </p:nvSpPr>
        <p:spPr>
          <a:xfrm>
            <a:off x="777240" y="5486400"/>
            <a:ext cx="2286000" cy="274320"/>
          </a:xfrm>
          <a:prstGeom prst="rect">
            <a:avLst/>
          </a:prstGeom>
          <a:noFill/>
        </p:spPr>
        <p:txBody>
          <a:bodyPr wrap="square" lIns="0" tIns="0" rIns="0" bIns="0" rtlCol="0" anchor="ctr"/>
          <a:lstStyle/>
          <a:p>
            <a:pPr marL="0" indent="0">
              <a:buNone/>
            </a:pPr>
            <a:r>
              <a:rPr lang="en-US" sz="1250" b="1" dirty="0">
                <a:solidFill>
                  <a:srgbClr val="FFB627"/>
                </a:solidFill>
                <a:latin typeface="Cambria" panose="02040503050406030204" pitchFamily="34" charset="0"/>
                <a:ea typeface="Cambria" panose="02040503050406030204" pitchFamily="34" charset="-122"/>
                <a:cs typeface="Cambria" panose="02040503050406030204" pitchFamily="34" charset="-120"/>
              </a:rPr>
              <a:t>Business Impact</a:t>
            </a:r>
            <a:endParaRPr lang="en-US" sz="1250" dirty="0"/>
          </a:p>
        </p:txBody>
      </p:sp>
      <p:sp>
        <p:nvSpPr>
          <p:cNvPr id="48" name="Text 46"/>
          <p:cNvSpPr/>
          <p:nvPr/>
        </p:nvSpPr>
        <p:spPr>
          <a:xfrm>
            <a:off x="777240" y="5779008"/>
            <a:ext cx="10607040" cy="365760"/>
          </a:xfrm>
          <a:prstGeom prst="rect">
            <a:avLst/>
          </a:prstGeom>
          <a:noFill/>
        </p:spPr>
        <p:txBody>
          <a:bodyPr wrap="square" lIns="0" tIns="0" rIns="0" bIns="0" rtlCol="0" anchor="ctr"/>
          <a:lstStyle/>
          <a:p>
            <a:pPr marL="0" indent="0">
              <a:buNone/>
            </a:pPr>
            <a:r>
              <a:rPr lang="en-US" sz="1150" dirty="0">
                <a:solidFill>
                  <a:srgbClr val="E8ECF4"/>
                </a:solidFill>
                <a:latin typeface="Calibri" panose="020F0502020204030204" pitchFamily="34" charset="0"/>
                <a:ea typeface="Calibri" panose="020F0502020204030204" pitchFamily="34" charset="-122"/>
                <a:cs typeface="Calibri" panose="020F0502020204030204" pitchFamily="34" charset="-120"/>
              </a:rPr>
              <a:t>Real-time analytics  ·  Better scalability  ·  Personalized recommendations  ·  Improved decision-making</a:t>
            </a:r>
            <a:endParaRPr lang="en-US" sz="1150" dirty="0"/>
          </a:p>
        </p:txBody>
      </p:sp>
      <p:sp>
        <p:nvSpPr>
          <p:cNvPr id="50" name="Text 47"/>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51" name="Text 48"/>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p:spPr>
        <p:txBody>
          <a:bodyPr wrap="square" rtlCol="0" anchor="ctr"/>
          <a:lstStyle/>
          <a:p>
            <a:pPr marL="0" indent="0">
              <a:buNone/>
            </a:pPr>
            <a:r>
              <a:rPr lang="en-US" sz="1200" b="1" kern="0" spc="220" dirty="0">
                <a:solidFill>
                  <a:srgbClr val="5BC0BE"/>
                </a:solidFill>
                <a:latin typeface="Calibri" panose="020F0502020204030204" pitchFamily="34" charset="0"/>
                <a:ea typeface="Calibri" panose="020F0502020204030204" pitchFamily="34" charset="-122"/>
                <a:cs typeface="Calibri" panose="020F0502020204030204" pitchFamily="34" charset="-120"/>
              </a:rPr>
              <a:t>WRAPPING UP</a:t>
            </a:r>
            <a:endParaRPr lang="en-US" sz="1200" dirty="0"/>
          </a:p>
        </p:txBody>
      </p:sp>
      <p:sp>
        <p:nvSpPr>
          <p:cNvPr id="3" name="Text 1"/>
          <p:cNvSpPr/>
          <p:nvPr/>
        </p:nvSpPr>
        <p:spPr>
          <a:xfrm>
            <a:off x="530352" y="621792"/>
            <a:ext cx="960120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3000" dirty="0"/>
          </a:p>
        </p:txBody>
      </p:sp>
      <p:sp>
        <p:nvSpPr>
          <p:cNvPr id="4" name="Text 2"/>
          <p:cNvSpPr/>
          <p:nvPr/>
        </p:nvSpPr>
        <p:spPr>
          <a:xfrm>
            <a:off x="548640" y="1417320"/>
            <a:ext cx="5029200" cy="320040"/>
          </a:xfrm>
          <a:prstGeom prst="rect">
            <a:avLst/>
          </a:prstGeom>
          <a:noFill/>
        </p:spPr>
        <p:txBody>
          <a:bodyPr wrap="square" lIns="0" tIns="0" rIns="0" bIns="0" rtlCol="0" anchor="ctr"/>
          <a:lstStyle/>
          <a:p>
            <a:pPr marL="0" indent="0">
              <a:buNone/>
            </a:pPr>
            <a:r>
              <a:rPr lang="en-US" sz="1600" b="1" dirty="0">
                <a:solidFill>
                  <a:srgbClr val="5BC0BE"/>
                </a:solidFill>
                <a:latin typeface="Cambria" panose="02040503050406030204" pitchFamily="34" charset="0"/>
                <a:ea typeface="Cambria" panose="02040503050406030204" pitchFamily="34" charset="-122"/>
                <a:cs typeface="Cambria" panose="02040503050406030204" pitchFamily="34" charset="-120"/>
              </a:rPr>
              <a:t>Project Summary</a:t>
            </a:r>
            <a:endParaRPr lang="en-US" sz="1600" dirty="0"/>
          </a:p>
        </p:txBody>
      </p:sp>
      <p:sp>
        <p:nvSpPr>
          <p:cNvPr id="5" name="Shape 3"/>
          <p:cNvSpPr/>
          <p:nvPr/>
        </p:nvSpPr>
        <p:spPr>
          <a:xfrm>
            <a:off x="548640" y="1828800"/>
            <a:ext cx="292608" cy="292608"/>
          </a:xfrm>
          <a:prstGeom prst="ellipse">
            <a:avLst/>
          </a:prstGeom>
          <a:solidFill>
            <a:srgbClr val="5BC0BE"/>
          </a:solidFill>
        </p:spPr>
      </p:sp>
      <p:sp>
        <p:nvSpPr>
          <p:cNvPr id="6" name="Text 4"/>
          <p:cNvSpPr/>
          <p:nvPr/>
        </p:nvSpPr>
        <p:spPr>
          <a:xfrm>
            <a:off x="548640" y="18288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7" name="Text 5"/>
          <p:cNvSpPr/>
          <p:nvPr/>
        </p:nvSpPr>
        <p:spPr>
          <a:xfrm>
            <a:off x="960120" y="17739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Developed an end-to-end Retail Analytics Platform</a:t>
            </a:r>
            <a:endParaRPr lang="en-US" sz="1200" dirty="0"/>
          </a:p>
        </p:txBody>
      </p:sp>
      <p:sp>
        <p:nvSpPr>
          <p:cNvPr id="8" name="Shape 6"/>
          <p:cNvSpPr/>
          <p:nvPr/>
        </p:nvSpPr>
        <p:spPr>
          <a:xfrm>
            <a:off x="548640" y="2286000"/>
            <a:ext cx="292608" cy="292608"/>
          </a:xfrm>
          <a:prstGeom prst="ellipse">
            <a:avLst/>
          </a:prstGeom>
          <a:solidFill>
            <a:srgbClr val="5BC0BE"/>
          </a:solidFill>
        </p:spPr>
      </p:sp>
      <p:sp>
        <p:nvSpPr>
          <p:cNvPr id="9" name="Text 7"/>
          <p:cNvSpPr/>
          <p:nvPr/>
        </p:nvSpPr>
        <p:spPr>
          <a:xfrm>
            <a:off x="548640" y="22860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0" name="Text 8"/>
          <p:cNvSpPr/>
          <p:nvPr/>
        </p:nvSpPr>
        <p:spPr>
          <a:xfrm>
            <a:off x="960120" y="22311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Performed data preprocessing &amp; feature engineering</a:t>
            </a:r>
            <a:endParaRPr lang="en-US" sz="1200" dirty="0"/>
          </a:p>
        </p:txBody>
      </p:sp>
      <p:sp>
        <p:nvSpPr>
          <p:cNvPr id="11" name="Shape 9"/>
          <p:cNvSpPr/>
          <p:nvPr/>
        </p:nvSpPr>
        <p:spPr>
          <a:xfrm>
            <a:off x="548640" y="2743200"/>
            <a:ext cx="292608" cy="292608"/>
          </a:xfrm>
          <a:prstGeom prst="ellipse">
            <a:avLst/>
          </a:prstGeom>
          <a:solidFill>
            <a:srgbClr val="5BC0BE"/>
          </a:solidFill>
        </p:spPr>
      </p:sp>
      <p:sp>
        <p:nvSpPr>
          <p:cNvPr id="12" name="Text 10"/>
          <p:cNvSpPr/>
          <p:nvPr/>
        </p:nvSpPr>
        <p:spPr>
          <a:xfrm>
            <a:off x="548640" y="27432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3" name="Text 11"/>
          <p:cNvSpPr/>
          <p:nvPr/>
        </p:nvSpPr>
        <p:spPr>
          <a:xfrm>
            <a:off x="960120" y="26883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Implemented Customer Segmentation using RFM</a:t>
            </a:r>
            <a:endParaRPr lang="en-US" sz="1200" dirty="0"/>
          </a:p>
        </p:txBody>
      </p:sp>
      <p:sp>
        <p:nvSpPr>
          <p:cNvPr id="14" name="Shape 12"/>
          <p:cNvSpPr/>
          <p:nvPr/>
        </p:nvSpPr>
        <p:spPr>
          <a:xfrm>
            <a:off x="548640" y="3200400"/>
            <a:ext cx="292608" cy="292608"/>
          </a:xfrm>
          <a:prstGeom prst="ellipse">
            <a:avLst/>
          </a:prstGeom>
          <a:solidFill>
            <a:srgbClr val="5BC0BE"/>
          </a:solidFill>
        </p:spPr>
      </p:sp>
      <p:sp>
        <p:nvSpPr>
          <p:cNvPr id="15" name="Text 13"/>
          <p:cNvSpPr/>
          <p:nvPr/>
        </p:nvSpPr>
        <p:spPr>
          <a:xfrm>
            <a:off x="548640" y="32004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6" name="Text 14"/>
          <p:cNvSpPr/>
          <p:nvPr/>
        </p:nvSpPr>
        <p:spPr>
          <a:xfrm>
            <a:off x="960120" y="31455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Predicted Customer Churn</a:t>
            </a:r>
            <a:endParaRPr lang="en-US" sz="1200" dirty="0"/>
          </a:p>
        </p:txBody>
      </p:sp>
      <p:sp>
        <p:nvSpPr>
          <p:cNvPr id="17" name="Shape 15"/>
          <p:cNvSpPr/>
          <p:nvPr/>
        </p:nvSpPr>
        <p:spPr>
          <a:xfrm>
            <a:off x="548640" y="3657600"/>
            <a:ext cx="292608" cy="292608"/>
          </a:xfrm>
          <a:prstGeom prst="ellipse">
            <a:avLst/>
          </a:prstGeom>
          <a:solidFill>
            <a:srgbClr val="5BC0BE"/>
          </a:solidFill>
        </p:spPr>
      </p:sp>
      <p:sp>
        <p:nvSpPr>
          <p:cNvPr id="18" name="Text 16"/>
          <p:cNvSpPr/>
          <p:nvPr/>
        </p:nvSpPr>
        <p:spPr>
          <a:xfrm>
            <a:off x="548640" y="36576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9" name="Text 17"/>
          <p:cNvSpPr/>
          <p:nvPr/>
        </p:nvSpPr>
        <p:spPr>
          <a:xfrm>
            <a:off x="960120" y="36027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Forecasted Revenue using Prophet</a:t>
            </a:r>
            <a:endParaRPr lang="en-US" sz="1200" dirty="0"/>
          </a:p>
        </p:txBody>
      </p:sp>
      <p:sp>
        <p:nvSpPr>
          <p:cNvPr id="20" name="Shape 18"/>
          <p:cNvSpPr/>
          <p:nvPr/>
        </p:nvSpPr>
        <p:spPr>
          <a:xfrm>
            <a:off x="548640" y="4114800"/>
            <a:ext cx="292608" cy="292608"/>
          </a:xfrm>
          <a:prstGeom prst="ellipse">
            <a:avLst/>
          </a:prstGeom>
          <a:solidFill>
            <a:srgbClr val="5BC0BE"/>
          </a:solidFill>
        </p:spPr>
      </p:sp>
      <p:sp>
        <p:nvSpPr>
          <p:cNvPr id="21" name="Text 19"/>
          <p:cNvSpPr/>
          <p:nvPr/>
        </p:nvSpPr>
        <p:spPr>
          <a:xfrm>
            <a:off x="548640" y="41148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22" name="Text 20"/>
          <p:cNvSpPr/>
          <p:nvPr/>
        </p:nvSpPr>
        <p:spPr>
          <a:xfrm>
            <a:off x="960120" y="40599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Built 12 interactive Streamlit dashboards</a:t>
            </a:r>
            <a:endParaRPr lang="en-US" sz="1200" dirty="0"/>
          </a:p>
        </p:txBody>
      </p:sp>
      <p:sp>
        <p:nvSpPr>
          <p:cNvPr id="23" name="Shape 21"/>
          <p:cNvSpPr/>
          <p:nvPr/>
        </p:nvSpPr>
        <p:spPr>
          <a:xfrm>
            <a:off x="548640" y="4572000"/>
            <a:ext cx="292608" cy="292608"/>
          </a:xfrm>
          <a:prstGeom prst="ellipse">
            <a:avLst/>
          </a:prstGeom>
          <a:solidFill>
            <a:srgbClr val="5BC0BE"/>
          </a:solidFill>
        </p:spPr>
      </p:sp>
      <p:sp>
        <p:nvSpPr>
          <p:cNvPr id="24" name="Text 22"/>
          <p:cNvSpPr/>
          <p:nvPr/>
        </p:nvSpPr>
        <p:spPr>
          <a:xfrm>
            <a:off x="548640" y="4572000"/>
            <a:ext cx="292608" cy="292608"/>
          </a:xfrm>
          <a:prstGeom prst="rect">
            <a:avLst/>
          </a:prstGeom>
          <a:noFill/>
        </p:spPr>
        <p:txBody>
          <a:bodyPr wrap="square" rtlCol="0" anchor="ctr"/>
          <a:lstStyle/>
          <a:p>
            <a:pPr marL="0" indent="0" algn="ctr">
              <a:buNone/>
            </a:pPr>
            <a:r>
              <a:rPr lang="en-US" sz="1200" b="1" dirty="0">
                <a:solidFill>
                  <a:srgbClr val="0B132B"/>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25" name="Text 23"/>
          <p:cNvSpPr/>
          <p:nvPr/>
        </p:nvSpPr>
        <p:spPr>
          <a:xfrm>
            <a:off x="960120" y="4517136"/>
            <a:ext cx="4937760" cy="411480"/>
          </a:xfrm>
          <a:prstGeom prst="rect">
            <a:avLst/>
          </a:prstGeom>
          <a:noFill/>
        </p:spPr>
        <p:txBody>
          <a:bodyPr wrap="square" lIns="0" tIns="0" rIns="0" bIns="0" rtlCol="0" anchor="ctr"/>
          <a:lstStyle/>
          <a:p>
            <a:pPr marL="0" indent="0">
              <a:buNone/>
            </a:pPr>
            <a:r>
              <a:rPr lang="en-US" sz="1200" dirty="0">
                <a:solidFill>
                  <a:srgbClr val="E8ECF4"/>
                </a:solidFill>
                <a:latin typeface="Calibri" panose="020F0502020204030204" pitchFamily="34" charset="0"/>
                <a:ea typeface="Calibri" panose="020F0502020204030204" pitchFamily="34" charset="-122"/>
                <a:cs typeface="Calibri" panose="020F0502020204030204" pitchFamily="34" charset="-120"/>
              </a:rPr>
              <a:t>Deployed the application successfully</a:t>
            </a:r>
            <a:endParaRPr lang="en-US" sz="1200" dirty="0"/>
          </a:p>
        </p:txBody>
      </p:sp>
      <p:sp>
        <p:nvSpPr>
          <p:cNvPr id="26" name="Text 24"/>
          <p:cNvSpPr/>
          <p:nvPr/>
        </p:nvSpPr>
        <p:spPr>
          <a:xfrm>
            <a:off x="6400800" y="1417320"/>
            <a:ext cx="5029200" cy="320040"/>
          </a:xfrm>
          <a:prstGeom prst="rect">
            <a:avLst/>
          </a:prstGeom>
          <a:noFill/>
        </p:spPr>
        <p:txBody>
          <a:bodyPr wrap="square" lIns="0" tIns="0" rIns="0" bIns="0" rtlCol="0" anchor="ctr"/>
          <a:lstStyle/>
          <a:p>
            <a:pPr marL="0" indent="0">
              <a:buNone/>
            </a:pPr>
            <a:r>
              <a:rPr lang="en-US" sz="1600" b="1" dirty="0">
                <a:solidFill>
                  <a:srgbClr val="FFB627"/>
                </a:solidFill>
                <a:latin typeface="Cambria" panose="02040503050406030204" pitchFamily="34" charset="0"/>
                <a:ea typeface="Cambria" panose="02040503050406030204" pitchFamily="34" charset="-122"/>
                <a:cs typeface="Cambria" panose="02040503050406030204" pitchFamily="34" charset="-120"/>
              </a:rPr>
              <a:t>Learning Outcomes</a:t>
            </a:r>
            <a:endParaRPr lang="en-US" sz="1600" dirty="0"/>
          </a:p>
        </p:txBody>
      </p:sp>
      <p:sp>
        <p:nvSpPr>
          <p:cNvPr id="27" name="Shape 25"/>
          <p:cNvSpPr/>
          <p:nvPr/>
        </p:nvSpPr>
        <p:spPr>
          <a:xfrm>
            <a:off x="6400800" y="1874520"/>
            <a:ext cx="2423160" cy="420624"/>
          </a:xfrm>
          <a:prstGeom prst="roundRect">
            <a:avLst>
              <a:gd name="adj" fmla="val 17391"/>
            </a:avLst>
          </a:prstGeom>
          <a:solidFill>
            <a:srgbClr val="1E2B4D"/>
          </a:solidFill>
        </p:spPr>
      </p:sp>
      <p:sp>
        <p:nvSpPr>
          <p:cNvPr id="28" name="Text 26"/>
          <p:cNvSpPr/>
          <p:nvPr/>
        </p:nvSpPr>
        <p:spPr>
          <a:xfrm>
            <a:off x="6400800" y="1874520"/>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Data Cleaning</a:t>
            </a:r>
            <a:endParaRPr lang="en-US" sz="1050" dirty="0"/>
          </a:p>
        </p:txBody>
      </p:sp>
      <p:sp>
        <p:nvSpPr>
          <p:cNvPr id="29" name="Shape 27"/>
          <p:cNvSpPr/>
          <p:nvPr/>
        </p:nvSpPr>
        <p:spPr>
          <a:xfrm>
            <a:off x="9006840" y="1874520"/>
            <a:ext cx="2423160" cy="420624"/>
          </a:xfrm>
          <a:prstGeom prst="roundRect">
            <a:avLst>
              <a:gd name="adj" fmla="val 17391"/>
            </a:avLst>
          </a:prstGeom>
          <a:solidFill>
            <a:srgbClr val="1E2B4D"/>
          </a:solidFill>
        </p:spPr>
      </p:sp>
      <p:sp>
        <p:nvSpPr>
          <p:cNvPr id="30" name="Text 28"/>
          <p:cNvSpPr/>
          <p:nvPr/>
        </p:nvSpPr>
        <p:spPr>
          <a:xfrm>
            <a:off x="9006840" y="1874520"/>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050" dirty="0"/>
          </a:p>
        </p:txBody>
      </p:sp>
      <p:sp>
        <p:nvSpPr>
          <p:cNvPr id="31" name="Shape 29"/>
          <p:cNvSpPr/>
          <p:nvPr/>
        </p:nvSpPr>
        <p:spPr>
          <a:xfrm>
            <a:off x="6400800" y="2441448"/>
            <a:ext cx="2423160" cy="420624"/>
          </a:xfrm>
          <a:prstGeom prst="roundRect">
            <a:avLst>
              <a:gd name="adj" fmla="val 17391"/>
            </a:avLst>
          </a:prstGeom>
          <a:solidFill>
            <a:srgbClr val="1E2B4D"/>
          </a:solidFill>
        </p:spPr>
      </p:sp>
      <p:sp>
        <p:nvSpPr>
          <p:cNvPr id="32" name="Text 30"/>
          <p:cNvSpPr/>
          <p:nvPr/>
        </p:nvSpPr>
        <p:spPr>
          <a:xfrm>
            <a:off x="6400800" y="2441448"/>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Machine Learning</a:t>
            </a:r>
            <a:endParaRPr lang="en-US" sz="1050" dirty="0"/>
          </a:p>
        </p:txBody>
      </p:sp>
      <p:sp>
        <p:nvSpPr>
          <p:cNvPr id="33" name="Shape 31"/>
          <p:cNvSpPr/>
          <p:nvPr/>
        </p:nvSpPr>
        <p:spPr>
          <a:xfrm>
            <a:off x="9006840" y="2441448"/>
            <a:ext cx="2423160" cy="420624"/>
          </a:xfrm>
          <a:prstGeom prst="roundRect">
            <a:avLst>
              <a:gd name="adj" fmla="val 17391"/>
            </a:avLst>
          </a:prstGeom>
          <a:solidFill>
            <a:srgbClr val="1E2B4D"/>
          </a:solidFill>
        </p:spPr>
      </p:sp>
      <p:sp>
        <p:nvSpPr>
          <p:cNvPr id="34" name="Text 32"/>
          <p:cNvSpPr/>
          <p:nvPr/>
        </p:nvSpPr>
        <p:spPr>
          <a:xfrm>
            <a:off x="9006840" y="2441448"/>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Business Intelligence</a:t>
            </a:r>
            <a:endParaRPr lang="en-US" sz="1050" dirty="0"/>
          </a:p>
        </p:txBody>
      </p:sp>
      <p:sp>
        <p:nvSpPr>
          <p:cNvPr id="35" name="Shape 33"/>
          <p:cNvSpPr/>
          <p:nvPr/>
        </p:nvSpPr>
        <p:spPr>
          <a:xfrm>
            <a:off x="6400800" y="3008376"/>
            <a:ext cx="2423160" cy="420624"/>
          </a:xfrm>
          <a:prstGeom prst="roundRect">
            <a:avLst>
              <a:gd name="adj" fmla="val 17391"/>
            </a:avLst>
          </a:prstGeom>
          <a:solidFill>
            <a:srgbClr val="1E2B4D"/>
          </a:solidFill>
        </p:spPr>
      </p:sp>
      <p:sp>
        <p:nvSpPr>
          <p:cNvPr id="36" name="Text 34"/>
          <p:cNvSpPr/>
          <p:nvPr/>
        </p:nvSpPr>
        <p:spPr>
          <a:xfrm>
            <a:off x="6400800" y="3008376"/>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Dashboard Development</a:t>
            </a:r>
            <a:endParaRPr lang="en-US" sz="1050" dirty="0"/>
          </a:p>
        </p:txBody>
      </p:sp>
      <p:sp>
        <p:nvSpPr>
          <p:cNvPr id="37" name="Shape 35"/>
          <p:cNvSpPr/>
          <p:nvPr/>
        </p:nvSpPr>
        <p:spPr>
          <a:xfrm>
            <a:off x="9006840" y="3008376"/>
            <a:ext cx="2423160" cy="420624"/>
          </a:xfrm>
          <a:prstGeom prst="roundRect">
            <a:avLst>
              <a:gd name="adj" fmla="val 17391"/>
            </a:avLst>
          </a:prstGeom>
          <a:solidFill>
            <a:srgbClr val="1E2B4D"/>
          </a:solidFill>
        </p:spPr>
      </p:sp>
      <p:sp>
        <p:nvSpPr>
          <p:cNvPr id="38" name="Text 36"/>
          <p:cNvSpPr/>
          <p:nvPr/>
        </p:nvSpPr>
        <p:spPr>
          <a:xfrm>
            <a:off x="9006840" y="3008376"/>
            <a:ext cx="2423160" cy="42062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Cloud Deployment</a:t>
            </a:r>
            <a:endParaRPr lang="en-US" sz="1050" dirty="0"/>
          </a:p>
        </p:txBody>
      </p:sp>
      <p:sp>
        <p:nvSpPr>
          <p:cNvPr id="39" name="Text 37"/>
          <p:cNvSpPr/>
          <p:nvPr/>
        </p:nvSpPr>
        <p:spPr>
          <a:xfrm>
            <a:off x="6400800" y="3703320"/>
            <a:ext cx="5029200" cy="292608"/>
          </a:xfrm>
          <a:prstGeom prst="rect">
            <a:avLst/>
          </a:prstGeom>
          <a:noFill/>
        </p:spPr>
        <p:txBody>
          <a:bodyPr wrap="square" lIns="0" tIns="0" rIns="0" bIns="0" rtlCol="0" anchor="ctr"/>
          <a:lstStyle/>
          <a:p>
            <a:pPr marL="0" indent="0">
              <a:buNone/>
            </a:pPr>
            <a:r>
              <a:rPr lang="en-US" sz="1400" b="1" dirty="0">
                <a:solidFill>
                  <a:srgbClr val="5BC0BE"/>
                </a:solidFill>
                <a:latin typeface="Cambria" panose="02040503050406030204" pitchFamily="34" charset="0"/>
                <a:ea typeface="Cambria" panose="02040503050406030204" pitchFamily="34" charset="-122"/>
                <a:cs typeface="Cambria" panose="02040503050406030204" pitchFamily="34" charset="-120"/>
              </a:rPr>
              <a:t>Project at a Glance</a:t>
            </a:r>
            <a:endParaRPr lang="en-US" sz="1400" dirty="0"/>
          </a:p>
        </p:txBody>
      </p:sp>
      <p:sp>
        <p:nvSpPr>
          <p:cNvPr id="40" name="Shape 38"/>
          <p:cNvSpPr/>
          <p:nvPr/>
        </p:nvSpPr>
        <p:spPr>
          <a:xfrm>
            <a:off x="6400800" y="4069080"/>
            <a:ext cx="2423160" cy="566928"/>
          </a:xfrm>
          <a:prstGeom prst="roundRect">
            <a:avLst>
              <a:gd name="adj" fmla="val 12903"/>
            </a:avLst>
          </a:prstGeom>
          <a:solidFill>
            <a:srgbClr val="16213E"/>
          </a:solidFill>
        </p:spPr>
      </p:sp>
      <p:sp>
        <p:nvSpPr>
          <p:cNvPr id="41" name="Text 39"/>
          <p:cNvSpPr/>
          <p:nvPr/>
        </p:nvSpPr>
        <p:spPr>
          <a:xfrm>
            <a:off x="6565392" y="4123944"/>
            <a:ext cx="914400" cy="457200"/>
          </a:xfrm>
          <a:prstGeom prst="rect">
            <a:avLst/>
          </a:prstGeom>
          <a:noFill/>
        </p:spPr>
        <p:txBody>
          <a:bodyPr wrap="square" lIns="0" tIns="0" rIns="0" bIns="0" rtlCol="0" anchor="ctr"/>
          <a:lstStyle/>
          <a:p>
            <a:pPr marL="0" indent="0">
              <a:buNone/>
            </a:pPr>
            <a:r>
              <a:rPr lang="en-US" sz="2000" b="1" dirty="0">
                <a:solidFill>
                  <a:srgbClr val="FFB627"/>
                </a:solidFill>
                <a:latin typeface="Cambria" panose="02040503050406030204" pitchFamily="34" charset="0"/>
                <a:ea typeface="Cambria" panose="02040503050406030204" pitchFamily="34" charset="-122"/>
                <a:cs typeface="Cambria" panose="02040503050406030204" pitchFamily="34" charset="-120"/>
              </a:rPr>
              <a:t>16</a:t>
            </a:r>
            <a:endParaRPr lang="en-US" sz="2000" dirty="0"/>
          </a:p>
        </p:txBody>
      </p:sp>
      <p:sp>
        <p:nvSpPr>
          <p:cNvPr id="42" name="Text 40"/>
          <p:cNvSpPr/>
          <p:nvPr/>
        </p:nvSpPr>
        <p:spPr>
          <a:xfrm>
            <a:off x="7406640" y="4069080"/>
            <a:ext cx="1371600" cy="566928"/>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Slides Delivered</a:t>
            </a:r>
            <a:endParaRPr lang="en-US" sz="980" dirty="0"/>
          </a:p>
        </p:txBody>
      </p:sp>
      <p:sp>
        <p:nvSpPr>
          <p:cNvPr id="43" name="Shape 41"/>
          <p:cNvSpPr/>
          <p:nvPr/>
        </p:nvSpPr>
        <p:spPr>
          <a:xfrm>
            <a:off x="9006840" y="4069080"/>
            <a:ext cx="2423160" cy="566928"/>
          </a:xfrm>
          <a:prstGeom prst="roundRect">
            <a:avLst>
              <a:gd name="adj" fmla="val 12903"/>
            </a:avLst>
          </a:prstGeom>
          <a:solidFill>
            <a:srgbClr val="16213E"/>
          </a:solidFill>
        </p:spPr>
      </p:sp>
      <p:sp>
        <p:nvSpPr>
          <p:cNvPr id="44" name="Text 42"/>
          <p:cNvSpPr/>
          <p:nvPr/>
        </p:nvSpPr>
        <p:spPr>
          <a:xfrm>
            <a:off x="9171432" y="4123944"/>
            <a:ext cx="914400" cy="457200"/>
          </a:xfrm>
          <a:prstGeom prst="rect">
            <a:avLst/>
          </a:prstGeom>
          <a:noFill/>
        </p:spPr>
        <p:txBody>
          <a:bodyPr wrap="square" lIns="0" tIns="0" rIns="0" bIns="0" rtlCol="0" anchor="ctr"/>
          <a:lstStyle/>
          <a:p>
            <a:pPr marL="0" indent="0">
              <a:buNone/>
            </a:pPr>
            <a:r>
              <a:rPr lang="en-US" sz="2000" b="1" dirty="0">
                <a:solidFill>
                  <a:srgbClr val="FFB627"/>
                </a:solidFill>
                <a:latin typeface="Cambria" panose="02040503050406030204" pitchFamily="34" charset="0"/>
                <a:ea typeface="Cambria" panose="02040503050406030204" pitchFamily="34" charset="-122"/>
                <a:cs typeface="Cambria" panose="02040503050406030204" pitchFamily="34" charset="-120"/>
              </a:rPr>
              <a:t>6</a:t>
            </a:r>
            <a:endParaRPr lang="en-US" sz="2000" dirty="0"/>
          </a:p>
        </p:txBody>
      </p:sp>
      <p:sp>
        <p:nvSpPr>
          <p:cNvPr id="45" name="Text 43"/>
          <p:cNvSpPr/>
          <p:nvPr/>
        </p:nvSpPr>
        <p:spPr>
          <a:xfrm>
            <a:off x="10012680" y="4069080"/>
            <a:ext cx="1371600" cy="566928"/>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Live Dashboards</a:t>
            </a:r>
            <a:endParaRPr lang="en-US" sz="980" dirty="0"/>
          </a:p>
        </p:txBody>
      </p:sp>
      <p:sp>
        <p:nvSpPr>
          <p:cNvPr id="46" name="Shape 44"/>
          <p:cNvSpPr/>
          <p:nvPr/>
        </p:nvSpPr>
        <p:spPr>
          <a:xfrm>
            <a:off x="6400800" y="4754880"/>
            <a:ext cx="2423160" cy="566928"/>
          </a:xfrm>
          <a:prstGeom prst="roundRect">
            <a:avLst>
              <a:gd name="adj" fmla="val 12903"/>
            </a:avLst>
          </a:prstGeom>
          <a:solidFill>
            <a:srgbClr val="16213E"/>
          </a:solidFill>
        </p:spPr>
      </p:sp>
      <p:sp>
        <p:nvSpPr>
          <p:cNvPr id="47" name="Text 45"/>
          <p:cNvSpPr/>
          <p:nvPr/>
        </p:nvSpPr>
        <p:spPr>
          <a:xfrm>
            <a:off x="6565392" y="4809744"/>
            <a:ext cx="914400" cy="457200"/>
          </a:xfrm>
          <a:prstGeom prst="rect">
            <a:avLst/>
          </a:prstGeom>
          <a:noFill/>
        </p:spPr>
        <p:txBody>
          <a:bodyPr wrap="square" lIns="0" tIns="0" rIns="0" bIns="0" rtlCol="0" anchor="ctr"/>
          <a:lstStyle/>
          <a:p>
            <a:pPr marL="0" indent="0">
              <a:buNone/>
            </a:pPr>
            <a:r>
              <a:rPr lang="en-US" sz="2000" b="1" dirty="0">
                <a:solidFill>
                  <a:srgbClr val="FFB627"/>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48" name="Text 46"/>
          <p:cNvSpPr/>
          <p:nvPr/>
        </p:nvSpPr>
        <p:spPr>
          <a:xfrm>
            <a:off x="7406640" y="4754880"/>
            <a:ext cx="1371600" cy="566928"/>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ML Models</a:t>
            </a:r>
            <a:endParaRPr lang="en-US" sz="980" dirty="0"/>
          </a:p>
        </p:txBody>
      </p:sp>
      <p:sp>
        <p:nvSpPr>
          <p:cNvPr id="49" name="Shape 47"/>
          <p:cNvSpPr/>
          <p:nvPr/>
        </p:nvSpPr>
        <p:spPr>
          <a:xfrm>
            <a:off x="9006840" y="4754880"/>
            <a:ext cx="2423160" cy="566928"/>
          </a:xfrm>
          <a:prstGeom prst="roundRect">
            <a:avLst>
              <a:gd name="adj" fmla="val 12903"/>
            </a:avLst>
          </a:prstGeom>
          <a:solidFill>
            <a:srgbClr val="16213E"/>
          </a:solidFill>
        </p:spPr>
      </p:sp>
      <p:sp>
        <p:nvSpPr>
          <p:cNvPr id="50" name="Text 48"/>
          <p:cNvSpPr/>
          <p:nvPr/>
        </p:nvSpPr>
        <p:spPr>
          <a:xfrm>
            <a:off x="9171432" y="4809744"/>
            <a:ext cx="914400" cy="457200"/>
          </a:xfrm>
          <a:prstGeom prst="rect">
            <a:avLst/>
          </a:prstGeom>
          <a:noFill/>
        </p:spPr>
        <p:txBody>
          <a:bodyPr wrap="square" lIns="0" tIns="0" rIns="0" bIns="0" rtlCol="0" anchor="ctr"/>
          <a:lstStyle/>
          <a:p>
            <a:pPr marL="0" indent="0">
              <a:buNone/>
            </a:pPr>
            <a:r>
              <a:rPr lang="en-US" sz="2000" b="1" dirty="0">
                <a:solidFill>
                  <a:srgbClr val="FFB627"/>
                </a:solidFill>
                <a:latin typeface="Cambria" panose="02040503050406030204" pitchFamily="34" charset="0"/>
                <a:ea typeface="Cambria" panose="02040503050406030204" pitchFamily="34" charset="-122"/>
                <a:cs typeface="Cambria" panose="02040503050406030204" pitchFamily="34" charset="-120"/>
              </a:rPr>
              <a:t>7/7</a:t>
            </a:r>
            <a:endParaRPr lang="en-US" sz="2000" dirty="0"/>
          </a:p>
        </p:txBody>
      </p:sp>
      <p:sp>
        <p:nvSpPr>
          <p:cNvPr id="51" name="Text 49"/>
          <p:cNvSpPr/>
          <p:nvPr/>
        </p:nvSpPr>
        <p:spPr>
          <a:xfrm>
            <a:off x="10012680" y="4754880"/>
            <a:ext cx="1371600" cy="566928"/>
          </a:xfrm>
          <a:prstGeom prst="rect">
            <a:avLst/>
          </a:prstGeom>
          <a:noFill/>
        </p:spPr>
        <p:txBody>
          <a:bodyPr wrap="square" lIns="0" tIns="0" rIns="0" bIns="0" rtlCol="0" anchor="ctr"/>
          <a:lstStyle/>
          <a:p>
            <a:pPr marL="0" indent="0">
              <a:buNone/>
            </a:pPr>
            <a:r>
              <a:rPr lang="en-US" sz="980" dirty="0">
                <a:solidFill>
                  <a:srgbClr val="8D9AB8"/>
                </a:solidFill>
                <a:latin typeface="Calibri" panose="020F0502020204030204" pitchFamily="34" charset="0"/>
                <a:ea typeface="Calibri" panose="020F0502020204030204" pitchFamily="34" charset="-122"/>
                <a:cs typeface="Calibri" panose="020F0502020204030204" pitchFamily="34" charset="-120"/>
              </a:rPr>
              <a:t>Objectives Met</a:t>
            </a:r>
            <a:endParaRPr lang="en-US" sz="980" dirty="0"/>
          </a:p>
        </p:txBody>
      </p:sp>
      <p:sp>
        <p:nvSpPr>
          <p:cNvPr id="52" name="Shape 50"/>
          <p:cNvSpPr/>
          <p:nvPr/>
        </p:nvSpPr>
        <p:spPr>
          <a:xfrm>
            <a:off x="548640" y="5349240"/>
            <a:ext cx="11091672" cy="1188720"/>
          </a:xfrm>
          <a:prstGeom prst="roundRect">
            <a:avLst>
              <a:gd name="adj" fmla="val 6154"/>
            </a:avLst>
          </a:prstGeom>
          <a:solidFill>
            <a:srgbClr val="5BC0BE"/>
          </a:solidFill>
        </p:spPr>
      </p:sp>
      <p:sp>
        <p:nvSpPr>
          <p:cNvPr id="53" name="Text 51"/>
          <p:cNvSpPr/>
          <p:nvPr/>
        </p:nvSpPr>
        <p:spPr>
          <a:xfrm>
            <a:off x="822960" y="5468112"/>
            <a:ext cx="3657600" cy="274320"/>
          </a:xfrm>
          <a:prstGeom prst="rect">
            <a:avLst/>
          </a:prstGeom>
          <a:noFill/>
        </p:spPr>
        <p:txBody>
          <a:bodyPr wrap="square" lIns="0" tIns="0" rIns="0" bIns="0" rtlCol="0" anchor="ctr"/>
          <a:lstStyle/>
          <a:p>
            <a:pPr marL="0" indent="0">
              <a:buNone/>
            </a:pPr>
            <a:r>
              <a:rPr lang="en-US" sz="1300" b="1" dirty="0">
                <a:solidFill>
                  <a:srgbClr val="0B132B"/>
                </a:solidFill>
                <a:latin typeface="Cambria" panose="02040503050406030204" pitchFamily="34" charset="0"/>
                <a:ea typeface="Cambria" panose="02040503050406030204" pitchFamily="34" charset="-122"/>
                <a:cs typeface="Cambria" panose="02040503050406030204" pitchFamily="34" charset="-120"/>
              </a:rPr>
              <a:t>Final Outcome</a:t>
            </a:r>
            <a:endParaRPr lang="en-US" sz="1300" dirty="0"/>
          </a:p>
        </p:txBody>
      </p:sp>
      <p:sp>
        <p:nvSpPr>
          <p:cNvPr id="54" name="Text 52"/>
          <p:cNvSpPr/>
          <p:nvPr/>
        </p:nvSpPr>
        <p:spPr>
          <a:xfrm>
            <a:off x="822960" y="5760720"/>
            <a:ext cx="10515600" cy="685800"/>
          </a:xfrm>
          <a:prstGeom prst="rect">
            <a:avLst/>
          </a:prstGeom>
          <a:noFill/>
        </p:spPr>
        <p:txBody>
          <a:bodyPr wrap="square" lIns="0" tIns="0" rIns="0" bIns="0" rtlCol="0" anchor="ctr"/>
          <a:lstStyle/>
          <a:p>
            <a:pPr marL="0" indent="0">
              <a:lnSpc>
                <a:spcPct val="120000"/>
              </a:lnSpc>
              <a:buNone/>
            </a:pPr>
            <a:r>
              <a:rPr lang="en-US" sz="1250" i="1" dirty="0">
                <a:solidFill>
                  <a:srgbClr val="0B132B"/>
                </a:solidFill>
                <a:latin typeface="Calibri" panose="020F0502020204030204" pitchFamily="34" charset="0"/>
                <a:ea typeface="Calibri" panose="020F0502020204030204" pitchFamily="34" charset="-122"/>
                <a:cs typeface="Calibri" panose="020F0502020204030204" pitchFamily="34" charset="-120"/>
              </a:rPr>
              <a:t>The project successfully transformed raw retail transaction data into meaningful business insights, enabling better strategic and operational decision-making.</a:t>
            </a:r>
            <a:endParaRPr lang="en-US" sz="1250" dirty="0"/>
          </a:p>
        </p:txBody>
      </p:sp>
      <p:sp>
        <p:nvSpPr>
          <p:cNvPr id="56" name="Text 53"/>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57" name="Text 54"/>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 0"/>
          <p:cNvSpPr/>
          <p:nvPr/>
        </p:nvSpPr>
        <p:spPr>
          <a:xfrm>
            <a:off x="0" y="2697480"/>
            <a:ext cx="12191695" cy="914400"/>
          </a:xfrm>
          <a:prstGeom prst="rect">
            <a:avLst/>
          </a:prstGeom>
          <a:noFill/>
        </p:spPr>
        <p:txBody>
          <a:bodyPr wrap="square" lIns="0" tIns="0" rIns="0" bIns="0" rtlCol="0" anchor="ctr"/>
          <a:lstStyle/>
          <a:p>
            <a:pPr marL="0" indent="0" algn="ctr">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600" dirty="0"/>
          </a:p>
        </p:txBody>
      </p:sp>
      <p:sp>
        <p:nvSpPr>
          <p:cNvPr id="3" name="Shape 1"/>
          <p:cNvSpPr/>
          <p:nvPr/>
        </p:nvSpPr>
        <p:spPr>
          <a:xfrm>
            <a:off x="5592928" y="3611880"/>
            <a:ext cx="1005840" cy="41148"/>
          </a:xfrm>
          <a:prstGeom prst="roundRect">
            <a:avLst/>
          </a:prstGeom>
          <a:solidFill>
            <a:srgbClr val="5BC0BE"/>
          </a:solidFill>
        </p:spPr>
      </p:sp>
      <p:sp>
        <p:nvSpPr>
          <p:cNvPr id="4" name="Text 2"/>
          <p:cNvSpPr/>
          <p:nvPr/>
        </p:nvSpPr>
        <p:spPr>
          <a:xfrm>
            <a:off x="0" y="3794760"/>
            <a:ext cx="12191695" cy="365760"/>
          </a:xfrm>
          <a:prstGeom prst="rect">
            <a:avLst/>
          </a:prstGeom>
          <a:noFill/>
        </p:spPr>
        <p:txBody>
          <a:bodyPr wrap="square" lIns="0" tIns="0" rIns="0" bIns="0" rtlCol="0" anchor="ctr"/>
          <a:lstStyle/>
          <a:p>
            <a:pPr marL="0" indent="0" algn="ctr">
              <a:buNone/>
            </a:pPr>
            <a:r>
              <a:rPr lang="en-US" sz="1400" i="1"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  ·  Shraddha Shri</a:t>
            </a:r>
            <a:endParaRPr lang="en-US" sz="1400" dirty="0"/>
          </a:p>
        </p:txBody>
      </p:sp>
      <p:sp>
        <p:nvSpPr>
          <p:cNvPr id="5" name="Shape 3"/>
          <p:cNvSpPr/>
          <p:nvPr/>
        </p:nvSpPr>
        <p:spPr>
          <a:xfrm>
            <a:off x="2557120" y="4572000"/>
            <a:ext cx="777240" cy="329184"/>
          </a:xfrm>
          <a:prstGeom prst="roundRect">
            <a:avLst>
              <a:gd name="adj" fmla="val 50000"/>
            </a:avLst>
          </a:prstGeom>
          <a:solidFill>
            <a:srgbClr val="1E2B4D"/>
          </a:solidFill>
          <a:ln w="9525">
            <a:solidFill>
              <a:srgbClr val="2C3A63"/>
            </a:solidFill>
            <a:prstDash val="solid"/>
          </a:ln>
        </p:spPr>
      </p:sp>
      <p:sp>
        <p:nvSpPr>
          <p:cNvPr id="6" name="Text 4"/>
          <p:cNvSpPr/>
          <p:nvPr/>
        </p:nvSpPr>
        <p:spPr>
          <a:xfrm>
            <a:off x="2557120" y="457200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Python</a:t>
            </a:r>
            <a:endParaRPr lang="en-US" sz="1050" dirty="0"/>
          </a:p>
        </p:txBody>
      </p:sp>
      <p:sp>
        <p:nvSpPr>
          <p:cNvPr id="7" name="Shape 5"/>
          <p:cNvSpPr/>
          <p:nvPr/>
        </p:nvSpPr>
        <p:spPr>
          <a:xfrm>
            <a:off x="3462376" y="4572000"/>
            <a:ext cx="1037844" cy="329184"/>
          </a:xfrm>
          <a:prstGeom prst="roundRect">
            <a:avLst>
              <a:gd name="adj" fmla="val 50000"/>
            </a:avLst>
          </a:prstGeom>
          <a:solidFill>
            <a:srgbClr val="1E2B4D"/>
          </a:solidFill>
          <a:ln w="9525">
            <a:solidFill>
              <a:srgbClr val="2C3A63"/>
            </a:solidFill>
            <a:prstDash val="solid"/>
          </a:ln>
        </p:spPr>
      </p:sp>
      <p:sp>
        <p:nvSpPr>
          <p:cNvPr id="8" name="Text 6"/>
          <p:cNvSpPr/>
          <p:nvPr/>
        </p:nvSpPr>
        <p:spPr>
          <a:xfrm>
            <a:off x="3462376" y="4572000"/>
            <a:ext cx="1037844"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Streamlit</a:t>
            </a:r>
            <a:endParaRPr lang="en-US" sz="1050" dirty="0"/>
          </a:p>
        </p:txBody>
      </p:sp>
      <p:sp>
        <p:nvSpPr>
          <p:cNvPr id="9" name="Shape 7"/>
          <p:cNvSpPr/>
          <p:nvPr/>
        </p:nvSpPr>
        <p:spPr>
          <a:xfrm>
            <a:off x="4628236" y="4572000"/>
            <a:ext cx="777240" cy="329184"/>
          </a:xfrm>
          <a:prstGeom prst="roundRect">
            <a:avLst>
              <a:gd name="adj" fmla="val 50000"/>
            </a:avLst>
          </a:prstGeom>
          <a:solidFill>
            <a:srgbClr val="1E2B4D"/>
          </a:solidFill>
          <a:ln w="9525">
            <a:solidFill>
              <a:srgbClr val="2C3A63"/>
            </a:solidFill>
            <a:prstDash val="solid"/>
          </a:ln>
        </p:spPr>
      </p:sp>
      <p:sp>
        <p:nvSpPr>
          <p:cNvPr id="10" name="Text 8"/>
          <p:cNvSpPr/>
          <p:nvPr/>
        </p:nvSpPr>
        <p:spPr>
          <a:xfrm>
            <a:off x="4628236" y="457200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Pandas</a:t>
            </a:r>
            <a:endParaRPr lang="en-US" sz="1050" dirty="0"/>
          </a:p>
        </p:txBody>
      </p:sp>
      <p:sp>
        <p:nvSpPr>
          <p:cNvPr id="11" name="Shape 9"/>
          <p:cNvSpPr/>
          <p:nvPr/>
        </p:nvSpPr>
        <p:spPr>
          <a:xfrm>
            <a:off x="5533492" y="4572000"/>
            <a:ext cx="777240" cy="329184"/>
          </a:xfrm>
          <a:prstGeom prst="roundRect">
            <a:avLst>
              <a:gd name="adj" fmla="val 50000"/>
            </a:avLst>
          </a:prstGeom>
          <a:solidFill>
            <a:srgbClr val="1E2B4D"/>
          </a:solidFill>
          <a:ln w="9525">
            <a:solidFill>
              <a:srgbClr val="2C3A63"/>
            </a:solidFill>
            <a:prstDash val="solid"/>
          </a:ln>
        </p:spPr>
      </p:sp>
      <p:sp>
        <p:nvSpPr>
          <p:cNvPr id="12" name="Text 10"/>
          <p:cNvSpPr/>
          <p:nvPr/>
        </p:nvSpPr>
        <p:spPr>
          <a:xfrm>
            <a:off x="5533492" y="457200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Plotly</a:t>
            </a:r>
            <a:endParaRPr lang="en-US" sz="1050" dirty="0"/>
          </a:p>
        </p:txBody>
      </p:sp>
      <p:sp>
        <p:nvSpPr>
          <p:cNvPr id="13" name="Shape 11"/>
          <p:cNvSpPr/>
          <p:nvPr/>
        </p:nvSpPr>
        <p:spPr>
          <a:xfrm>
            <a:off x="6438748" y="4572000"/>
            <a:ext cx="1298448" cy="329184"/>
          </a:xfrm>
          <a:prstGeom prst="roundRect">
            <a:avLst>
              <a:gd name="adj" fmla="val 50000"/>
            </a:avLst>
          </a:prstGeom>
          <a:solidFill>
            <a:srgbClr val="1E2B4D"/>
          </a:solidFill>
          <a:ln w="9525">
            <a:solidFill>
              <a:srgbClr val="2C3A63"/>
            </a:solidFill>
            <a:prstDash val="solid"/>
          </a:ln>
        </p:spPr>
      </p:sp>
      <p:sp>
        <p:nvSpPr>
          <p:cNvPr id="14" name="Text 12"/>
          <p:cNvSpPr/>
          <p:nvPr/>
        </p:nvSpPr>
        <p:spPr>
          <a:xfrm>
            <a:off x="6438748" y="4572000"/>
            <a:ext cx="1298448"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Scikit-Learn</a:t>
            </a:r>
            <a:endParaRPr lang="en-US" sz="1050" dirty="0"/>
          </a:p>
        </p:txBody>
      </p:sp>
      <p:sp>
        <p:nvSpPr>
          <p:cNvPr id="15" name="Shape 13"/>
          <p:cNvSpPr/>
          <p:nvPr/>
        </p:nvSpPr>
        <p:spPr>
          <a:xfrm>
            <a:off x="7865212" y="4572000"/>
            <a:ext cx="864108" cy="329184"/>
          </a:xfrm>
          <a:prstGeom prst="roundRect">
            <a:avLst>
              <a:gd name="adj" fmla="val 50000"/>
            </a:avLst>
          </a:prstGeom>
          <a:solidFill>
            <a:srgbClr val="1E2B4D"/>
          </a:solidFill>
          <a:ln w="9525">
            <a:solidFill>
              <a:srgbClr val="2C3A63"/>
            </a:solidFill>
            <a:prstDash val="solid"/>
          </a:ln>
        </p:spPr>
      </p:sp>
      <p:sp>
        <p:nvSpPr>
          <p:cNvPr id="16" name="Text 14"/>
          <p:cNvSpPr/>
          <p:nvPr/>
        </p:nvSpPr>
        <p:spPr>
          <a:xfrm>
            <a:off x="7865212" y="4572000"/>
            <a:ext cx="864108"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Prophet</a:t>
            </a:r>
            <a:endParaRPr lang="en-US" sz="1050" dirty="0"/>
          </a:p>
        </p:txBody>
      </p:sp>
      <p:sp>
        <p:nvSpPr>
          <p:cNvPr id="17" name="Shape 15"/>
          <p:cNvSpPr/>
          <p:nvPr/>
        </p:nvSpPr>
        <p:spPr>
          <a:xfrm>
            <a:off x="8857336" y="4572000"/>
            <a:ext cx="777240" cy="329184"/>
          </a:xfrm>
          <a:prstGeom prst="roundRect">
            <a:avLst>
              <a:gd name="adj" fmla="val 50000"/>
            </a:avLst>
          </a:prstGeom>
          <a:solidFill>
            <a:srgbClr val="1E2B4D"/>
          </a:solidFill>
          <a:ln w="9525">
            <a:solidFill>
              <a:srgbClr val="2C3A63"/>
            </a:solidFill>
            <a:prstDash val="solid"/>
          </a:ln>
        </p:spPr>
      </p:sp>
      <p:sp>
        <p:nvSpPr>
          <p:cNvPr id="18" name="Text 16"/>
          <p:cNvSpPr/>
          <p:nvPr/>
        </p:nvSpPr>
        <p:spPr>
          <a:xfrm>
            <a:off x="8857336" y="4572000"/>
            <a:ext cx="777240" cy="329184"/>
          </a:xfrm>
          <a:prstGeom prst="rect">
            <a:avLst/>
          </a:prstGeom>
          <a:noFill/>
        </p:spPr>
        <p:txBody>
          <a:bodyPr wrap="square" lIns="0" tIns="0" rIns="0" bIns="0" rtlCol="0" anchor="ctr"/>
          <a:lstStyle/>
          <a:p>
            <a:pPr marL="0" indent="0" algn="ctr">
              <a:buNone/>
            </a:pPr>
            <a:r>
              <a:rPr lang="en-US" sz="1050" dirty="0">
                <a:solidFill>
                  <a:srgbClr val="E8ECF4"/>
                </a:solidFill>
                <a:latin typeface="Calibri" panose="020F0502020204030204" pitchFamily="34" charset="0"/>
                <a:ea typeface="Calibri" panose="020F0502020204030204" pitchFamily="34" charset="-122"/>
                <a:cs typeface="Calibri" panose="020F0502020204030204" pitchFamily="34" charset="-120"/>
              </a:rPr>
              <a:t>GitHub</a:t>
            </a:r>
            <a:endParaRPr lang="en-US" sz="1050" dirty="0"/>
          </a:p>
        </p:txBody>
      </p:sp>
      <p:sp>
        <p:nvSpPr>
          <p:cNvPr id="22" name="Text 19"/>
          <p:cNvSpPr/>
          <p:nvPr/>
        </p:nvSpPr>
        <p:spPr>
          <a:xfrm>
            <a:off x="0" y="5334000"/>
            <a:ext cx="12191695" cy="365760"/>
          </a:xfrm>
          <a:prstGeom prst="rect">
            <a:avLst/>
          </a:prstGeom>
          <a:noFill/>
        </p:spPr>
        <p:txBody>
          <a:bodyPr wrap="square" lIns="0" tIns="0" rIns="0" bIns="0" rtlCol="0" anchor="ctr"/>
          <a:lstStyle/>
          <a:p>
            <a:pPr marL="0" indent="0" algn="ctr">
              <a:buNone/>
            </a:pPr>
            <a:r>
              <a:rPr lang="en-US" sz="1200" b="1" dirty="0">
                <a:solidFill>
                  <a:srgbClr val="5BC0BE"/>
                </a:solidFill>
                <a:latin typeface="Calibri" panose="020F0502020204030204" pitchFamily="34" charset="0"/>
                <a:ea typeface="Calibri" panose="020F0502020204030204" pitchFamily="34" charset="-122"/>
                <a:cs typeface="Calibri" panose="020F0502020204030204" pitchFamily="34" charset="-120"/>
                <a:hlinkClick r:id="rId1"/>
              </a:rPr>
              <a:t>neuralretail-analytics-platform.streamlit.app</a:t>
            </a:r>
            <a:endParaRPr lang="en-US" sz="1200" dirty="0"/>
          </a:p>
        </p:txBody>
      </p:sp>
      <p:sp>
        <p:nvSpPr>
          <p:cNvPr id="20" name="Text 17"/>
          <p:cNvSpPr/>
          <p:nvPr/>
        </p:nvSpPr>
        <p:spPr>
          <a:xfrm>
            <a:off x="457200" y="6547104"/>
            <a:ext cx="5486400" cy="256032"/>
          </a:xfrm>
          <a:prstGeom prst="rect">
            <a:avLst/>
          </a:prstGeom>
          <a:noFill/>
        </p:spPr>
        <p:txBody>
          <a:bodyPr wrap="square" rtlCol="0" anchor="ctr"/>
          <a:lstStyle/>
          <a:p>
            <a:pPr marL="0" indent="0" algn="l">
              <a:buNone/>
            </a:pPr>
            <a:r>
              <a:rPr lang="en-US" sz="850" kern="0" spc="150" dirty="0">
                <a:solidFill>
                  <a:srgbClr val="8D9AB8"/>
                </a:solidFill>
                <a:latin typeface="Calibri" panose="020F0502020204030204" pitchFamily="34" charset="0"/>
                <a:ea typeface="Calibri" panose="020F0502020204030204" pitchFamily="34" charset="-122"/>
                <a:cs typeface="Calibri" panose="020F0502020204030204" pitchFamily="34" charset="-120"/>
              </a:rPr>
              <a:t>NEURALRETAIL ANALYTICS PLATFORM</a:t>
            </a:r>
            <a:endParaRPr lang="en-US" sz="850" dirty="0"/>
          </a:p>
        </p:txBody>
      </p:sp>
      <p:sp>
        <p:nvSpPr>
          <p:cNvPr id="21" name="Text 18"/>
          <p:cNvSpPr/>
          <p:nvPr/>
        </p:nvSpPr>
        <p:spPr>
          <a:xfrm>
            <a:off x="11274552" y="6547104"/>
            <a:ext cx="457200" cy="256032"/>
          </a:xfrm>
          <a:prstGeom prst="rect">
            <a:avLst/>
          </a:prstGeom>
          <a:noFill/>
        </p:spPr>
        <p:txBody>
          <a:bodyPr wrap="square" rtlCol="0" anchor="ctr"/>
          <a:lstStyle/>
          <a:p>
            <a:pPr marL="0" indent="0" algn="r">
              <a:buNone/>
            </a:pPr>
            <a:r>
              <a:rPr lang="en-US" sz="900" dirty="0">
                <a:solidFill>
                  <a:srgbClr val="8D9AB8"/>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7649</Words>
  <Application>WPS Presentation</Application>
  <PresentationFormat>On-screen Show (16:9)</PresentationFormat>
  <Paragraphs>708</Paragraphs>
  <Slides>16</Slides>
  <Notes>16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shraddha shri</cp:lastModifiedBy>
  <cp:revision>3</cp:revision>
  <dcterms:created xsi:type="dcterms:W3CDTF">2026-07-14T08:37:00Z</dcterms:created>
  <dcterms:modified xsi:type="dcterms:W3CDTF">2026-07-14T09:19:17Z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97D8AFC5DE6B433C92912728362BA7B8_13</vt:lpwstr>
  </property>
  <property fmtid="{D5CDD505-2E9C-101B-9397-08002B2CF9AE}" pid="3" name="KSOProductBuildVer">
    <vt:lpwstr>1033-12.1.0.26880</vt:lpwstr>
  </property>
</Properties>
</file>